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Lst>
  <ns0:sldSz cx="12192000" cy="6858000" type="screen4x3"/>
  <ns0:notesSz cx="6858000" cy="9144000"/>
  <ns0:embeddedFontLst>
    <ns0:embeddedFont>
      <ns0:font typeface="Poppins"/>
      <ns0:bold ns1:id="rIdFont25"/>
    </ns0:embeddedFont>
    <ns0:embeddedFont>
      <ns0:font typeface="Inter"/>
      <ns0:bold ns1:id="rIdFont26"/>
      <ns0:regular ns1:id="rIdFont27"/>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Font25" Type="http://schemas.openxmlformats.org/officeDocument/2006/relationships/font" Target="fonts/8337fead-c79b-4e3c-a35c-7b97d7ff5c2f.fntdata" /><ns0:Relationship Id="rIdFont26" Type="http://schemas.openxmlformats.org/officeDocument/2006/relationships/font" Target="fonts/dd82c851-5656-4534-8aa9-e9a6642d4bfa.fntdata" /><ns0:Relationship Id="rIdFont27" Type="http://schemas.openxmlformats.org/officeDocument/2006/relationships/font" Target="fonts/cd1a10e0-26d3-421e-96f9-88e9d701a8f8.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524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3700"/>
            <a:ext cx="12192000" cy="1143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976812" y="2224087"/>
            <a:ext cx="2238375" cy="323850"/>
          </a:xfrm>
          <a:prstGeom prst="roundRect">
            <a:avLst>
              <a:gd name="adj" fmla="val 50000"/>
            </a:avLst>
          </a:prstGeom>
          <a:solidFill>
            <a:srgbClr val="FFF5F5"/>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5375" y="2738437"/>
            <a:ext cx="10001250" cy="1200150"/>
          </a:xfrm>
          <a:prstGeom prst="roundRect">
            <a:avLst>
              <a:gd name="adj" fmla="val 9523"/>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5375" y="4205287"/>
            <a:ext cx="4848225" cy="1152525"/>
          </a:xfrm>
          <a:prstGeom prst="roundRect">
            <a:avLst>
              <a:gd name="adj" fmla="val 49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8400" y="4205287"/>
            <a:ext cx="4848225" cy="1152525"/>
          </a:xfrm>
          <a:prstGeom prst="roundRect">
            <a:avLst>
              <a:gd name="adj" fmla="val 49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5375" y="4205287"/>
            <a:ext cx="38100" cy="11525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400" y="4205287"/>
            <a:ext cx="38100" cy="11525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33142" y="1538287"/>
            <a:ext cx="5725715" cy="333375"/>
          </a:xfrm>
          <a:prstGeom prst="rect">
            <a:avLst/>
          </a:prstGeom>
          <a:noFill/>
        </p:spPr>
        <p:txBody>
          <a:bodyPr wrap="none" lIns="0" rIns="0" tIns="0" bIns="0" anchor="t">
            <a:spAutoFit/>
          </a:bodyPr>
          <a:lstStyle/>
          <a:p>
            <a:pPr algn="ctr"/>
            <a:r>
              <a:rPr b="1" sz="1800" i="0" u="none">
                <a:solidFill>
                  <a:srgbClr val="800000"/>
                </a:solidFill>
                <a:latin typeface="Poppins"/>
              </a:rPr>
              <a:t>PRATHYUSHA ENGINEERING COLLEGE</a:t>
            </a:r>
          </a:p>
        </p:txBody>
      </p:sp>
      <p:sp>
        <p:nvSpPr>
          <p:cNvPr id="11" name="TextBox 10"/>
          <p:cNvSpPr txBox="1"/>
          <p:nvPr/>
        </p:nvSpPr>
        <p:spPr>
          <a:xfrm>
            <a:off x="1714500" y="1909762"/>
            <a:ext cx="8763000" cy="161925"/>
          </a:xfrm>
          <a:prstGeom prst="rect">
            <a:avLst/>
          </a:prstGeom>
          <a:noFill/>
        </p:spPr>
        <p:txBody>
          <a:bodyPr wrap="none" lIns="0" rIns="0" tIns="0" bIns="0" anchor="t">
            <a:spAutoFit/>
          </a:bodyPr>
          <a:lstStyle/>
          <a:p>
            <a:pPr algn="ctr"/>
            <a:r>
              <a:rPr b="1" sz="1050" i="0" u="none">
                <a:solidFill>
                  <a:srgbClr val="475569"/>
                </a:solidFill>
                <a:latin typeface="Inter"/>
              </a:rPr>
              <a:t>DEPARTMENT OF ELECTRONICS AND COMMUNICATION ENGINEERING — EDC LABORATORY MINI PROJECT</a:t>
            </a:r>
          </a:p>
        </p:txBody>
      </p:sp>
      <p:sp>
        <p:nvSpPr>
          <p:cNvPr id="12" name="TextBox 11"/>
          <p:cNvSpPr txBox="1"/>
          <p:nvPr/>
        </p:nvSpPr>
        <p:spPr>
          <a:xfrm>
            <a:off x="4887515" y="2281237"/>
            <a:ext cx="2416968" cy="209550"/>
          </a:xfrm>
          <a:prstGeom prst="rect">
            <a:avLst/>
          </a:prstGeom>
          <a:noFill/>
        </p:spPr>
        <p:txBody>
          <a:bodyPr wrap="square" lIns="0" rIns="0" tIns="0" bIns="0" anchor="t">
            <a:spAutoFit/>
          </a:bodyPr>
          <a:lstStyle/>
          <a:p>
            <a:pPr algn="ctr"/>
            <a:r>
              <a:rPr b="1" sz="1125" i="0" u="none">
                <a:solidFill>
                  <a:srgbClr val="800000"/>
                </a:solidFill>
                <a:latin typeface="Inter"/>
              </a:rPr>
              <a:t>MINI PROJECT REVIEW : 2</a:t>
            </a:r>
          </a:p>
        </p:txBody>
      </p:sp>
      <p:sp>
        <p:nvSpPr>
          <p:cNvPr id="13" name="TextBox 12"/>
          <p:cNvSpPr txBox="1"/>
          <p:nvPr/>
        </p:nvSpPr>
        <p:spPr>
          <a:xfrm>
            <a:off x="113109" y="2967037"/>
            <a:ext cx="11965781" cy="742950"/>
          </a:xfrm>
          <a:prstGeom prst="rect">
            <a:avLst/>
          </a:prstGeom>
          <a:noFill/>
        </p:spPr>
        <p:txBody>
          <a:bodyPr wrap="square" lIns="0" rIns="0" tIns="0" bIns="0" anchor="t">
            <a:spAutoFit/>
          </a:bodyPr>
          <a:lstStyle/>
          <a:p>
            <a:pPr algn="ctr">
              <a:lnSpc>
                <a:spcPts val="2925"/>
              </a:lnSpc>
            </a:pPr>
            <a:r>
              <a:rPr b="1" sz="2250" i="0" u="none">
                <a:solidFill>
                  <a:srgbClr val="FFFFFF"/>
                </a:solidFill>
                <a:latin typeface="Poppins"/>
              </a:rPr>
              <a:t>IOT-BASED SMART WATER PURITY MONITORING SYSTEM USING ESP32</a:t>
            </a:r>
          </a:p>
        </p:txBody>
      </p:sp>
      <p:sp>
        <p:nvSpPr>
          <p:cNvPr id="14" name="TextBox 13"/>
          <p:cNvSpPr txBox="1"/>
          <p:nvPr/>
        </p:nvSpPr>
        <p:spPr>
          <a:xfrm>
            <a:off x="1323975" y="4357687"/>
            <a:ext cx="5536406" cy="152400"/>
          </a:xfrm>
          <a:prstGeom prst="rect">
            <a:avLst/>
          </a:prstGeom>
          <a:noFill/>
        </p:spPr>
        <p:txBody>
          <a:bodyPr wrap="none" lIns="0" rIns="0" tIns="0" bIns="0" anchor="t">
            <a:spAutoFit/>
          </a:bodyPr>
          <a:lstStyle/>
          <a:p>
            <a:pPr algn="l"/>
            <a:r>
              <a:rPr b="1" sz="975" i="0" u="none">
                <a:solidFill>
                  <a:srgbClr val="800000"/>
                </a:solidFill>
                <a:latin typeface="Inter"/>
              </a:rPr>
              <a:t>TEAM MEMBERS:</a:t>
            </a:r>
          </a:p>
        </p:txBody>
      </p:sp>
      <p:sp>
        <p:nvSpPr>
          <p:cNvPr id="15" name="TextBox 14"/>
          <p:cNvSpPr txBox="1"/>
          <p:nvPr/>
        </p:nvSpPr>
        <p:spPr>
          <a:xfrm>
            <a:off x="1323975" y="4586287"/>
            <a:ext cx="5536406" cy="180975"/>
          </a:xfrm>
          <a:prstGeom prst="rect">
            <a:avLst/>
          </a:prstGeom>
          <a:noFill/>
        </p:spPr>
        <p:txBody>
          <a:bodyPr wrap="none" lIns="0" rIns="0" tIns="0" bIns="0" anchor="t">
            <a:spAutoFit/>
          </a:bodyPr>
          <a:lstStyle/>
          <a:p>
            <a:pPr algn="l"/>
            <a:r>
              <a:rPr b="1" sz="1125" i="0" u="none">
                <a:solidFill>
                  <a:srgbClr val="1E293B"/>
                </a:solidFill>
                <a:latin typeface="Inter"/>
              </a:rPr>
              <a:t>1. SHYAM GANESH</a:t>
            </a:r>
          </a:p>
        </p:txBody>
      </p:sp>
      <p:sp>
        <p:nvSpPr>
          <p:cNvPr id="16" name="TextBox 15"/>
          <p:cNvSpPr txBox="1"/>
          <p:nvPr/>
        </p:nvSpPr>
        <p:spPr>
          <a:xfrm>
            <a:off x="1323975" y="4805362"/>
            <a:ext cx="5536406" cy="180975"/>
          </a:xfrm>
          <a:prstGeom prst="rect">
            <a:avLst/>
          </a:prstGeom>
          <a:noFill/>
        </p:spPr>
        <p:txBody>
          <a:bodyPr wrap="none" lIns="0" rIns="0" tIns="0" bIns="0" anchor="t">
            <a:spAutoFit/>
          </a:bodyPr>
          <a:lstStyle/>
          <a:p>
            <a:pPr algn="l"/>
            <a:r>
              <a:rPr b="1" sz="1125" i="0" u="none">
                <a:solidFill>
                  <a:srgbClr val="1E293B"/>
                </a:solidFill>
                <a:latin typeface="Inter"/>
              </a:rPr>
              <a:t>2. VETTRI</a:t>
            </a:r>
          </a:p>
        </p:txBody>
      </p:sp>
      <p:sp>
        <p:nvSpPr>
          <p:cNvPr id="17" name="TextBox 16"/>
          <p:cNvSpPr txBox="1"/>
          <p:nvPr/>
        </p:nvSpPr>
        <p:spPr>
          <a:xfrm>
            <a:off x="1323975" y="5024437"/>
            <a:ext cx="5536406" cy="180975"/>
          </a:xfrm>
          <a:prstGeom prst="rect">
            <a:avLst/>
          </a:prstGeom>
          <a:noFill/>
        </p:spPr>
        <p:txBody>
          <a:bodyPr wrap="none" lIns="0" rIns="0" tIns="0" bIns="0" anchor="t">
            <a:spAutoFit/>
          </a:bodyPr>
          <a:lstStyle/>
          <a:p>
            <a:pPr algn="l"/>
            <a:r>
              <a:rPr b="1" sz="1125" i="0" u="none">
                <a:solidFill>
                  <a:srgbClr val="1E293B"/>
                </a:solidFill>
                <a:latin typeface="Inter"/>
              </a:rPr>
              <a:t>3. VENNILAVAN</a:t>
            </a:r>
          </a:p>
        </p:txBody>
      </p:sp>
      <p:sp>
        <p:nvSpPr>
          <p:cNvPr id="18" name="TextBox 17"/>
          <p:cNvSpPr txBox="1"/>
          <p:nvPr/>
        </p:nvSpPr>
        <p:spPr>
          <a:xfrm>
            <a:off x="6477000" y="4357687"/>
            <a:ext cx="5536406" cy="152400"/>
          </a:xfrm>
          <a:prstGeom prst="rect">
            <a:avLst/>
          </a:prstGeom>
          <a:noFill/>
        </p:spPr>
        <p:txBody>
          <a:bodyPr wrap="none" lIns="0" rIns="0" tIns="0" bIns="0" anchor="t">
            <a:spAutoFit/>
          </a:bodyPr>
          <a:lstStyle/>
          <a:p>
            <a:pPr algn="l"/>
            <a:r>
              <a:rPr b="1" sz="975" i="0" u="none">
                <a:solidFill>
                  <a:srgbClr val="800000"/>
                </a:solidFill>
                <a:latin typeface="Inter"/>
              </a:rPr>
              <a:t>INTERNAL GUIDE NAME:</a:t>
            </a:r>
          </a:p>
        </p:txBody>
      </p:sp>
      <p:sp>
        <p:nvSpPr>
          <p:cNvPr id="19" name="TextBox 18"/>
          <p:cNvSpPr txBox="1"/>
          <p:nvPr/>
        </p:nvSpPr>
        <p:spPr>
          <a:xfrm>
            <a:off x="6477000" y="4586287"/>
            <a:ext cx="5536406" cy="190500"/>
          </a:xfrm>
          <a:prstGeom prst="rect">
            <a:avLst/>
          </a:prstGeom>
          <a:noFill/>
        </p:spPr>
        <p:txBody>
          <a:bodyPr wrap="none" lIns="0" rIns="0" tIns="0" bIns="0" anchor="t">
            <a:spAutoFit/>
          </a:bodyPr>
          <a:lstStyle/>
          <a:p>
            <a:pPr algn="l"/>
            <a:r>
              <a:rPr b="1" sz="1275" i="0" u="none">
                <a:solidFill>
                  <a:srgbClr val="1E293B"/>
                </a:solidFill>
                <a:latin typeface="Inter"/>
              </a:rPr>
              <a:t>MS. A. VIJAYASHANTHI</a:t>
            </a:r>
          </a:p>
        </p:txBody>
      </p:sp>
      <p:sp>
        <p:nvSpPr>
          <p:cNvPr id="20" name="TextBox 19"/>
          <p:cNvSpPr txBox="1"/>
          <p:nvPr/>
        </p:nvSpPr>
        <p:spPr>
          <a:xfrm>
            <a:off x="6477000" y="4814887"/>
            <a:ext cx="5536406" cy="161925"/>
          </a:xfrm>
          <a:prstGeom prst="rect">
            <a:avLst/>
          </a:prstGeom>
          <a:noFill/>
        </p:spPr>
        <p:txBody>
          <a:bodyPr wrap="none" lIns="0" rIns="0" tIns="0" bIns="0" anchor="t">
            <a:spAutoFit/>
          </a:bodyPr>
          <a:lstStyle/>
          <a:p>
            <a:pPr algn="l"/>
            <a:r>
              <a:rPr b="1" sz="1050" i="0" u="none">
                <a:solidFill>
                  <a:srgbClr val="64748B"/>
                </a:solidFill>
                <a:latin typeface="Inter"/>
              </a:rPr>
              <a:t>DESIGNATION: ASSISTANT PROFESSOR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14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885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2457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3028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3600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4171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743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5314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314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885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72200" y="2457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72200" y="3028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72200" y="3600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41719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4743450"/>
            <a:ext cx="5562600" cy="476250"/>
          </a:xfrm>
          <a:prstGeom prst="roundRect">
            <a:avLst>
              <a:gd name="adj" fmla="val 1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76275" y="1438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781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314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314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10275" y="1314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6275" y="2009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352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885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1885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10275" y="1885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76275" y="2581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924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2457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2457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10275" y="2457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76275" y="3152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495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3028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3028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10275" y="3028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6275" y="3724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4067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600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600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10275" y="3600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76275" y="4295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4638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171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4171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10275" y="4171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76275" y="4867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210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4743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4743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010275" y="4743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76275" y="5438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5781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5314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 y="5314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010275" y="5314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391275" y="1438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72200" y="1781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72200" y="1314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72200" y="1314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1725275" y="1314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391275" y="2009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72200" y="2352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72200" y="1885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72200" y="1885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725275" y="1885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391275" y="2581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72200" y="2924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72200" y="2457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72200" y="2457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1725275" y="2457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391275" y="3152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172200" y="3495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172200" y="3028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172200" y="3028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1725275" y="3028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6391275" y="3724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172200" y="4067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172200" y="3600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72200" y="3600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1725275" y="3600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6391275" y="42957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172200" y="46386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172200" y="41719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172200" y="41719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725275" y="41719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6391275" y="4867275"/>
            <a:ext cx="228600" cy="228600"/>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172200" y="5210175"/>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72200" y="4743450"/>
            <a:ext cx="5562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172200" y="4743450"/>
            <a:ext cx="47625" cy="4762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1725275" y="4743450"/>
            <a:ext cx="9525" cy="476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81000" y="147637"/>
            <a:ext cx="1009650" cy="314325"/>
          </a:xfrm>
          <a:prstGeom prst="rect">
            <a:avLst/>
          </a:prstGeom>
          <a:noFill/>
        </p:spPr>
        <p:txBody>
          <a:bodyPr wrap="square" lIns="0" rIns="0" tIns="0" bIns="0" anchor="t">
            <a:spAutoFit/>
          </a:bodyPr>
          <a:lstStyle/>
          <a:p>
            <a:pPr algn="l"/>
            <a:r>
              <a:rPr b="1" sz="1650" i="0" u="none">
                <a:solidFill>
                  <a:srgbClr val="FFFFFF"/>
                </a:solidFill>
                <a:latin typeface="Poppins"/>
              </a:rPr>
              <a:t>AGENDA</a:t>
            </a:r>
          </a:p>
        </p:txBody>
      </p:sp>
      <p:sp>
        <p:nvSpPr>
          <p:cNvPr id="95" name="TextBox 94"/>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96" name="TextBox 95"/>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97" name="TextBox 96"/>
          <p:cNvSpPr txBox="1"/>
          <p:nvPr/>
        </p:nvSpPr>
        <p:spPr>
          <a:xfrm>
            <a:off x="11315700" y="6605587"/>
            <a:ext cx="781050" cy="142875"/>
          </a:xfrm>
          <a:prstGeom prst="rect">
            <a:avLst/>
          </a:prstGeom>
          <a:noFill/>
        </p:spPr>
        <p:txBody>
          <a:bodyPr wrap="none" lIns="0" rIns="0" tIns="0" bIns="0" anchor="t">
            <a:spAutoFit/>
          </a:bodyPr>
          <a:lstStyle/>
          <a:p>
            <a:pPr algn="l"/>
            <a:r>
              <a:rPr b="0" sz="900" i="0" u="none">
                <a:solidFill>
                  <a:srgbClr val="FFFFFF"/>
                </a:solidFill>
                <a:latin typeface="Inter"/>
              </a:rPr>
              <a:t>SLIDE 02</a:t>
            </a:r>
          </a:p>
        </p:txBody>
      </p:sp>
      <p:sp>
        <p:nvSpPr>
          <p:cNvPr id="98" name="TextBox 97"/>
          <p:cNvSpPr txBox="1"/>
          <p:nvPr/>
        </p:nvSpPr>
        <p:spPr>
          <a:xfrm>
            <a:off x="533400" y="1438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01</a:t>
            </a:r>
          </a:p>
        </p:txBody>
      </p:sp>
      <p:sp>
        <p:nvSpPr>
          <p:cNvPr id="99" name="TextBox 98"/>
          <p:cNvSpPr txBox="1"/>
          <p:nvPr/>
        </p:nvSpPr>
        <p:spPr>
          <a:xfrm>
            <a:off x="1019175" y="1462087"/>
            <a:ext cx="1066800" cy="180975"/>
          </a:xfrm>
          <a:prstGeom prst="rect">
            <a:avLst/>
          </a:prstGeom>
          <a:noFill/>
        </p:spPr>
        <p:txBody>
          <a:bodyPr wrap="none" lIns="0" rIns="0" tIns="0" bIns="0" anchor="t">
            <a:spAutoFit/>
          </a:bodyPr>
          <a:lstStyle/>
          <a:p>
            <a:pPr algn="l"/>
            <a:r>
              <a:rPr b="1" sz="1125" i="0" u="none">
                <a:solidFill>
                  <a:srgbClr val="1E293B"/>
                </a:solidFill>
                <a:latin typeface="Inter"/>
              </a:rPr>
              <a:t>ABSTRACT</a:t>
            </a:r>
          </a:p>
        </p:txBody>
      </p:sp>
      <p:sp>
        <p:nvSpPr>
          <p:cNvPr id="100" name="TextBox 99"/>
          <p:cNvSpPr txBox="1"/>
          <p:nvPr/>
        </p:nvSpPr>
        <p:spPr>
          <a:xfrm>
            <a:off x="533400" y="2009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02</a:t>
            </a:r>
          </a:p>
        </p:txBody>
      </p:sp>
      <p:sp>
        <p:nvSpPr>
          <p:cNvPr id="101" name="TextBox 100"/>
          <p:cNvSpPr txBox="1"/>
          <p:nvPr/>
        </p:nvSpPr>
        <p:spPr>
          <a:xfrm>
            <a:off x="1019175" y="2033587"/>
            <a:ext cx="1400175" cy="180975"/>
          </a:xfrm>
          <a:prstGeom prst="rect">
            <a:avLst/>
          </a:prstGeom>
          <a:noFill/>
        </p:spPr>
        <p:txBody>
          <a:bodyPr wrap="none" lIns="0" rIns="0" tIns="0" bIns="0" anchor="t">
            <a:spAutoFit/>
          </a:bodyPr>
          <a:lstStyle/>
          <a:p>
            <a:pPr algn="l"/>
            <a:r>
              <a:rPr b="1" sz="1125" i="0" u="none">
                <a:solidFill>
                  <a:srgbClr val="1E293B"/>
                </a:solidFill>
                <a:latin typeface="Inter"/>
              </a:rPr>
              <a:t>INTRODUCTION</a:t>
            </a:r>
          </a:p>
        </p:txBody>
      </p:sp>
      <p:sp>
        <p:nvSpPr>
          <p:cNvPr id="102" name="TextBox 101"/>
          <p:cNvSpPr txBox="1"/>
          <p:nvPr/>
        </p:nvSpPr>
        <p:spPr>
          <a:xfrm>
            <a:off x="533400" y="2581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03</a:t>
            </a:r>
          </a:p>
        </p:txBody>
      </p:sp>
      <p:sp>
        <p:nvSpPr>
          <p:cNvPr id="103" name="TextBox 102"/>
          <p:cNvSpPr txBox="1"/>
          <p:nvPr/>
        </p:nvSpPr>
        <p:spPr>
          <a:xfrm>
            <a:off x="1019175" y="2605087"/>
            <a:ext cx="1869281" cy="180975"/>
          </a:xfrm>
          <a:prstGeom prst="rect">
            <a:avLst/>
          </a:prstGeom>
          <a:noFill/>
        </p:spPr>
        <p:txBody>
          <a:bodyPr wrap="none" lIns="0" rIns="0" tIns="0" bIns="0" anchor="t">
            <a:spAutoFit/>
          </a:bodyPr>
          <a:lstStyle/>
          <a:p>
            <a:pPr algn="l"/>
            <a:r>
              <a:rPr b="1" sz="1125" i="0" u="none">
                <a:solidFill>
                  <a:srgbClr val="1E293B"/>
                </a:solidFill>
                <a:latin typeface="Inter"/>
              </a:rPr>
              <a:t>LITERATURE SURVEY</a:t>
            </a:r>
          </a:p>
        </p:txBody>
      </p:sp>
      <p:sp>
        <p:nvSpPr>
          <p:cNvPr id="104" name="TextBox 103"/>
          <p:cNvSpPr txBox="1"/>
          <p:nvPr/>
        </p:nvSpPr>
        <p:spPr>
          <a:xfrm>
            <a:off x="533400" y="3152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04</a:t>
            </a:r>
          </a:p>
        </p:txBody>
      </p:sp>
      <p:sp>
        <p:nvSpPr>
          <p:cNvPr id="105" name="TextBox 104"/>
          <p:cNvSpPr txBox="1"/>
          <p:nvPr/>
        </p:nvSpPr>
        <p:spPr>
          <a:xfrm>
            <a:off x="1019175" y="3176587"/>
            <a:ext cx="1512093" cy="180975"/>
          </a:xfrm>
          <a:prstGeom prst="rect">
            <a:avLst/>
          </a:prstGeom>
          <a:noFill/>
        </p:spPr>
        <p:txBody>
          <a:bodyPr wrap="none" lIns="0" rIns="0" tIns="0" bIns="0" anchor="t">
            <a:spAutoFit/>
          </a:bodyPr>
          <a:lstStyle/>
          <a:p>
            <a:pPr algn="l"/>
            <a:r>
              <a:rPr b="1" sz="1125" i="0" u="none">
                <a:solidFill>
                  <a:srgbClr val="1E293B"/>
                </a:solidFill>
                <a:latin typeface="Inter"/>
              </a:rPr>
              <a:t>BLOCK DIAGRAM</a:t>
            </a:r>
          </a:p>
        </p:txBody>
      </p:sp>
      <p:sp>
        <p:nvSpPr>
          <p:cNvPr id="106" name="TextBox 105"/>
          <p:cNvSpPr txBox="1"/>
          <p:nvPr/>
        </p:nvSpPr>
        <p:spPr>
          <a:xfrm>
            <a:off x="533400" y="3724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05</a:t>
            </a:r>
          </a:p>
        </p:txBody>
      </p:sp>
      <p:sp>
        <p:nvSpPr>
          <p:cNvPr id="107" name="TextBox 106"/>
          <p:cNvSpPr txBox="1"/>
          <p:nvPr/>
        </p:nvSpPr>
        <p:spPr>
          <a:xfrm>
            <a:off x="1019175" y="3748087"/>
            <a:ext cx="1257300" cy="180975"/>
          </a:xfrm>
          <a:prstGeom prst="rect">
            <a:avLst/>
          </a:prstGeom>
          <a:noFill/>
        </p:spPr>
        <p:txBody>
          <a:bodyPr wrap="none" lIns="0" rIns="0" tIns="0" bIns="0" anchor="t">
            <a:spAutoFit/>
          </a:bodyPr>
          <a:lstStyle/>
          <a:p>
            <a:pPr algn="l"/>
            <a:r>
              <a:rPr b="1" sz="1125" i="0" u="none">
                <a:solidFill>
                  <a:srgbClr val="1E293B"/>
                </a:solidFill>
                <a:latin typeface="Inter"/>
              </a:rPr>
              <a:t>FLOW CHART</a:t>
            </a:r>
          </a:p>
        </p:txBody>
      </p:sp>
      <p:sp>
        <p:nvSpPr>
          <p:cNvPr id="108" name="TextBox 107"/>
          <p:cNvSpPr txBox="1"/>
          <p:nvPr/>
        </p:nvSpPr>
        <p:spPr>
          <a:xfrm>
            <a:off x="533400" y="4295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06</a:t>
            </a:r>
          </a:p>
        </p:txBody>
      </p:sp>
      <p:sp>
        <p:nvSpPr>
          <p:cNvPr id="109" name="TextBox 108"/>
          <p:cNvSpPr txBox="1"/>
          <p:nvPr/>
        </p:nvSpPr>
        <p:spPr>
          <a:xfrm>
            <a:off x="1019175" y="4319587"/>
            <a:ext cx="2202656" cy="180975"/>
          </a:xfrm>
          <a:prstGeom prst="rect">
            <a:avLst/>
          </a:prstGeom>
          <a:noFill/>
        </p:spPr>
        <p:txBody>
          <a:bodyPr wrap="none" lIns="0" rIns="0" tIns="0" bIns="0" anchor="t">
            <a:spAutoFit/>
          </a:bodyPr>
          <a:lstStyle/>
          <a:p>
            <a:pPr algn="l"/>
            <a:r>
              <a:rPr b="1" sz="1125" i="0" u="none">
                <a:solidFill>
                  <a:srgbClr val="1E293B"/>
                </a:solidFill>
                <a:latin typeface="Inter"/>
              </a:rPr>
              <a:t>SYSTEM ARCHITECTURE</a:t>
            </a:r>
          </a:p>
        </p:txBody>
      </p:sp>
      <p:sp>
        <p:nvSpPr>
          <p:cNvPr id="110" name="TextBox 109"/>
          <p:cNvSpPr txBox="1"/>
          <p:nvPr/>
        </p:nvSpPr>
        <p:spPr>
          <a:xfrm>
            <a:off x="533400" y="4867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07</a:t>
            </a:r>
          </a:p>
        </p:txBody>
      </p:sp>
      <p:sp>
        <p:nvSpPr>
          <p:cNvPr id="111" name="TextBox 110"/>
          <p:cNvSpPr txBox="1"/>
          <p:nvPr/>
        </p:nvSpPr>
        <p:spPr>
          <a:xfrm>
            <a:off x="1019175" y="4891087"/>
            <a:ext cx="3667125" cy="180975"/>
          </a:xfrm>
          <a:prstGeom prst="rect">
            <a:avLst/>
          </a:prstGeom>
          <a:noFill/>
        </p:spPr>
        <p:txBody>
          <a:bodyPr wrap="none" lIns="0" rIns="0" tIns="0" bIns="0" anchor="t">
            <a:spAutoFit/>
          </a:bodyPr>
          <a:lstStyle/>
          <a:p>
            <a:pPr algn="l"/>
            <a:r>
              <a:rPr b="1" sz="1125" i="0" u="none">
                <a:solidFill>
                  <a:srgbClr val="1E293B"/>
                </a:solidFill>
                <a:latin typeface="Inter"/>
              </a:rPr>
              <a:t>HARDWARE COMPONENTS DESCRIPTION</a:t>
            </a:r>
          </a:p>
        </p:txBody>
      </p:sp>
      <p:sp>
        <p:nvSpPr>
          <p:cNvPr id="112" name="TextBox 111"/>
          <p:cNvSpPr txBox="1"/>
          <p:nvPr/>
        </p:nvSpPr>
        <p:spPr>
          <a:xfrm>
            <a:off x="533400" y="5438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08</a:t>
            </a:r>
          </a:p>
        </p:txBody>
      </p:sp>
      <p:sp>
        <p:nvSpPr>
          <p:cNvPr id="113" name="TextBox 112"/>
          <p:cNvSpPr txBox="1"/>
          <p:nvPr/>
        </p:nvSpPr>
        <p:spPr>
          <a:xfrm>
            <a:off x="1019175" y="5462587"/>
            <a:ext cx="1857375" cy="180975"/>
          </a:xfrm>
          <a:prstGeom prst="rect">
            <a:avLst/>
          </a:prstGeom>
          <a:noFill/>
        </p:spPr>
        <p:txBody>
          <a:bodyPr wrap="none" lIns="0" rIns="0" tIns="0" bIns="0" anchor="t">
            <a:spAutoFit/>
          </a:bodyPr>
          <a:lstStyle/>
          <a:p>
            <a:pPr algn="l"/>
            <a:r>
              <a:rPr b="1" sz="1125" i="0" u="none">
                <a:solidFill>
                  <a:srgbClr val="1E293B"/>
                </a:solidFill>
                <a:latin typeface="Inter"/>
              </a:rPr>
              <a:t>WORKING PRINCIPLE</a:t>
            </a:r>
          </a:p>
        </p:txBody>
      </p:sp>
      <p:sp>
        <p:nvSpPr>
          <p:cNvPr id="114" name="TextBox 113"/>
          <p:cNvSpPr txBox="1"/>
          <p:nvPr/>
        </p:nvSpPr>
        <p:spPr>
          <a:xfrm>
            <a:off x="6248400" y="1438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09</a:t>
            </a:r>
          </a:p>
        </p:txBody>
      </p:sp>
      <p:sp>
        <p:nvSpPr>
          <p:cNvPr id="115" name="TextBox 114"/>
          <p:cNvSpPr txBox="1"/>
          <p:nvPr/>
        </p:nvSpPr>
        <p:spPr>
          <a:xfrm>
            <a:off x="6734175" y="1462087"/>
            <a:ext cx="2678906" cy="180975"/>
          </a:xfrm>
          <a:prstGeom prst="rect">
            <a:avLst/>
          </a:prstGeom>
          <a:noFill/>
        </p:spPr>
        <p:txBody>
          <a:bodyPr wrap="none" lIns="0" rIns="0" tIns="0" bIns="0" anchor="t">
            <a:spAutoFit/>
          </a:bodyPr>
          <a:lstStyle/>
          <a:p>
            <a:pPr algn="l"/>
            <a:r>
              <a:rPr b="1" sz="1125" i="0" u="none">
                <a:solidFill>
                  <a:srgbClr val="1E293B"/>
                </a:solidFill>
                <a:latin typeface="Inter"/>
              </a:rPr>
              <a:t>SOFTWARE IMPLEMENTATION</a:t>
            </a:r>
          </a:p>
        </p:txBody>
      </p:sp>
      <p:sp>
        <p:nvSpPr>
          <p:cNvPr id="116" name="TextBox 115"/>
          <p:cNvSpPr txBox="1"/>
          <p:nvPr/>
        </p:nvSpPr>
        <p:spPr>
          <a:xfrm>
            <a:off x="6248400" y="2009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10</a:t>
            </a:r>
          </a:p>
        </p:txBody>
      </p:sp>
      <p:sp>
        <p:nvSpPr>
          <p:cNvPr id="117" name="TextBox 116"/>
          <p:cNvSpPr txBox="1"/>
          <p:nvPr/>
        </p:nvSpPr>
        <p:spPr>
          <a:xfrm>
            <a:off x="6734175" y="2033587"/>
            <a:ext cx="2405062" cy="180975"/>
          </a:xfrm>
          <a:prstGeom prst="rect">
            <a:avLst/>
          </a:prstGeom>
          <a:noFill/>
        </p:spPr>
        <p:txBody>
          <a:bodyPr wrap="none" lIns="0" rIns="0" tIns="0" bIns="0" anchor="t">
            <a:spAutoFit/>
          </a:bodyPr>
          <a:lstStyle/>
          <a:p>
            <a:pPr algn="l"/>
            <a:r>
              <a:rPr b="1" sz="1125" i="0" u="none">
                <a:solidFill>
                  <a:srgbClr val="1E293B"/>
                </a:solidFill>
                <a:latin typeface="Inter"/>
              </a:rPr>
              <a:t>RESULTS AND DISCUSSION</a:t>
            </a:r>
          </a:p>
        </p:txBody>
      </p:sp>
      <p:sp>
        <p:nvSpPr>
          <p:cNvPr id="118" name="TextBox 117"/>
          <p:cNvSpPr txBox="1"/>
          <p:nvPr/>
        </p:nvSpPr>
        <p:spPr>
          <a:xfrm>
            <a:off x="6248400" y="2581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11</a:t>
            </a:r>
          </a:p>
        </p:txBody>
      </p:sp>
      <p:sp>
        <p:nvSpPr>
          <p:cNvPr id="119" name="TextBox 118"/>
          <p:cNvSpPr txBox="1"/>
          <p:nvPr/>
        </p:nvSpPr>
        <p:spPr>
          <a:xfrm>
            <a:off x="6734175" y="2605087"/>
            <a:ext cx="1343025" cy="180975"/>
          </a:xfrm>
          <a:prstGeom prst="rect">
            <a:avLst/>
          </a:prstGeom>
          <a:noFill/>
        </p:spPr>
        <p:txBody>
          <a:bodyPr wrap="none" lIns="0" rIns="0" tIns="0" bIns="0" anchor="t">
            <a:spAutoFit/>
          </a:bodyPr>
          <a:lstStyle/>
          <a:p>
            <a:pPr algn="l"/>
            <a:r>
              <a:rPr b="1" sz="1125" i="0" u="none">
                <a:solidFill>
                  <a:srgbClr val="1E293B"/>
                </a:solidFill>
                <a:latin typeface="Inter"/>
              </a:rPr>
              <a:t>APPLICATIONS</a:t>
            </a:r>
          </a:p>
        </p:txBody>
      </p:sp>
      <p:sp>
        <p:nvSpPr>
          <p:cNvPr id="120" name="TextBox 119"/>
          <p:cNvSpPr txBox="1"/>
          <p:nvPr/>
        </p:nvSpPr>
        <p:spPr>
          <a:xfrm>
            <a:off x="6248400" y="3152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12</a:t>
            </a:r>
          </a:p>
        </p:txBody>
      </p:sp>
      <p:sp>
        <p:nvSpPr>
          <p:cNvPr id="121" name="TextBox 120"/>
          <p:cNvSpPr txBox="1"/>
          <p:nvPr/>
        </p:nvSpPr>
        <p:spPr>
          <a:xfrm>
            <a:off x="6734175" y="3176587"/>
            <a:ext cx="1257300" cy="180975"/>
          </a:xfrm>
          <a:prstGeom prst="rect">
            <a:avLst/>
          </a:prstGeom>
          <a:noFill/>
        </p:spPr>
        <p:txBody>
          <a:bodyPr wrap="none" lIns="0" rIns="0" tIns="0" bIns="0" anchor="t">
            <a:spAutoFit/>
          </a:bodyPr>
          <a:lstStyle/>
          <a:p>
            <a:pPr algn="l"/>
            <a:r>
              <a:rPr b="1" sz="1125" i="0" u="none">
                <a:solidFill>
                  <a:srgbClr val="1E293B"/>
                </a:solidFill>
                <a:latin typeface="Inter"/>
              </a:rPr>
              <a:t>ADVANTAGES</a:t>
            </a:r>
          </a:p>
        </p:txBody>
      </p:sp>
      <p:sp>
        <p:nvSpPr>
          <p:cNvPr id="122" name="TextBox 121"/>
          <p:cNvSpPr txBox="1"/>
          <p:nvPr/>
        </p:nvSpPr>
        <p:spPr>
          <a:xfrm>
            <a:off x="6248400" y="3724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13</a:t>
            </a:r>
          </a:p>
        </p:txBody>
      </p:sp>
      <p:sp>
        <p:nvSpPr>
          <p:cNvPr id="123" name="TextBox 122"/>
          <p:cNvSpPr txBox="1"/>
          <p:nvPr/>
        </p:nvSpPr>
        <p:spPr>
          <a:xfrm>
            <a:off x="6734175" y="3748087"/>
            <a:ext cx="3571875" cy="180975"/>
          </a:xfrm>
          <a:prstGeom prst="rect">
            <a:avLst/>
          </a:prstGeom>
          <a:noFill/>
        </p:spPr>
        <p:txBody>
          <a:bodyPr wrap="none" lIns="0" rIns="0" tIns="0" bIns="0" anchor="t">
            <a:spAutoFit/>
          </a:bodyPr>
          <a:lstStyle/>
          <a:p>
            <a:pPr algn="l"/>
            <a:r>
              <a:rPr b="1" sz="1125" i="0" u="none">
                <a:solidFill>
                  <a:srgbClr val="1E293B"/>
                </a:solidFill>
                <a:latin typeface="Inter"/>
              </a:rPr>
              <a:t>CONCLUSION &amp; FUTURE ENHANCEMENT</a:t>
            </a:r>
          </a:p>
        </p:txBody>
      </p:sp>
      <p:sp>
        <p:nvSpPr>
          <p:cNvPr id="124" name="TextBox 123"/>
          <p:cNvSpPr txBox="1"/>
          <p:nvPr/>
        </p:nvSpPr>
        <p:spPr>
          <a:xfrm>
            <a:off x="6248400" y="42957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14</a:t>
            </a:r>
          </a:p>
        </p:txBody>
      </p:sp>
      <p:sp>
        <p:nvSpPr>
          <p:cNvPr id="125" name="TextBox 124"/>
          <p:cNvSpPr txBox="1"/>
          <p:nvPr/>
        </p:nvSpPr>
        <p:spPr>
          <a:xfrm>
            <a:off x="6734175" y="4319587"/>
            <a:ext cx="3929062" cy="180975"/>
          </a:xfrm>
          <a:prstGeom prst="rect">
            <a:avLst/>
          </a:prstGeom>
          <a:noFill/>
        </p:spPr>
        <p:txBody>
          <a:bodyPr wrap="none" lIns="0" rIns="0" tIns="0" bIns="0" anchor="t">
            <a:spAutoFit/>
          </a:bodyPr>
          <a:lstStyle/>
          <a:p>
            <a:pPr algn="l"/>
            <a:r>
              <a:rPr b="1" sz="1125" i="0" u="none">
                <a:solidFill>
                  <a:srgbClr val="1E293B"/>
                </a:solidFill>
                <a:latin typeface="Inter"/>
              </a:rPr>
              <a:t>SDG/PO/PSO MAPPED WITH JUSTIFICATION</a:t>
            </a:r>
          </a:p>
        </p:txBody>
      </p:sp>
      <p:sp>
        <p:nvSpPr>
          <p:cNvPr id="126" name="TextBox 125"/>
          <p:cNvSpPr txBox="1"/>
          <p:nvPr/>
        </p:nvSpPr>
        <p:spPr>
          <a:xfrm>
            <a:off x="6248400" y="4867275"/>
            <a:ext cx="514350" cy="228600"/>
          </a:xfrm>
          <a:prstGeom prst="rect">
            <a:avLst/>
          </a:prstGeom>
          <a:noFill/>
        </p:spPr>
        <p:txBody>
          <a:bodyPr wrap="square" lIns="0" rIns="0" tIns="0" bIns="0" anchor="ctr">
            <a:spAutoFit/>
          </a:bodyPr>
          <a:lstStyle/>
          <a:p>
            <a:pPr algn="ctr"/>
            <a:r>
              <a:rPr b="1" sz="900" i="0" u="none">
                <a:solidFill>
                  <a:srgbClr val="FFFFFF"/>
                </a:solidFill>
                <a:latin typeface="Inter"/>
              </a:rPr>
              <a:t>15</a:t>
            </a:r>
          </a:p>
        </p:txBody>
      </p:sp>
      <p:sp>
        <p:nvSpPr>
          <p:cNvPr id="127" name="TextBox 126"/>
          <p:cNvSpPr txBox="1"/>
          <p:nvPr/>
        </p:nvSpPr>
        <p:spPr>
          <a:xfrm>
            <a:off x="6734175" y="4891087"/>
            <a:ext cx="1988343" cy="180975"/>
          </a:xfrm>
          <a:prstGeom prst="rect">
            <a:avLst/>
          </a:prstGeom>
          <a:noFill/>
        </p:spPr>
        <p:txBody>
          <a:bodyPr wrap="none" lIns="0" rIns="0" tIns="0" bIns="0" anchor="t">
            <a:spAutoFit/>
          </a:bodyPr>
          <a:lstStyle/>
          <a:p>
            <a:pPr algn="l"/>
            <a:r>
              <a:rPr b="1" sz="1125" i="0" u="none">
                <a:solidFill>
                  <a:srgbClr val="1E293B"/>
                </a:solidFill>
                <a:latin typeface="Inter"/>
              </a:rPr>
              <a:t>PROPOSED OUTCOME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30908"/>
            <a:ext cx="6560790" cy="1426666"/>
          </a:xfrm>
          <a:prstGeom prst="roundRect">
            <a:avLst>
              <a:gd name="adj" fmla="val 534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3648075"/>
            <a:ext cx="6560790" cy="1426666"/>
          </a:xfrm>
          <a:prstGeom prst="roundRect">
            <a:avLst>
              <a:gd name="adj" fmla="val 534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448050"/>
            <a:ext cx="65607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30908"/>
            <a:ext cx="65607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30908"/>
            <a:ext cx="47625" cy="1426666"/>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08465" y="2030908"/>
            <a:ext cx="9525" cy="142666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065216"/>
            <a:ext cx="65607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648075"/>
            <a:ext cx="65607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48075"/>
            <a:ext cx="47625" cy="1426666"/>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08465" y="3648075"/>
            <a:ext cx="9525" cy="142666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7322790" y="1743075"/>
            <a:ext cx="4412009" cy="3619500"/>
          </a:xfrm>
          <a:prstGeom prst="rect">
            <a:avLst/>
          </a:prstGeom>
        </p:spPr>
      </p:pic>
      <p:pic>
        <p:nvPicPr>
          <p:cNvPr id="15" name="Picture 14" descr="image.png"/>
          <p:cNvPicPr>
            <a:picLocks noChangeAspect="1"/>
          </p:cNvPicPr>
          <p:nvPr/>
        </p:nvPicPr>
        <p:blipFill>
          <a:blip r:embed="rId3"/>
          <a:stretch>
            <a:fillRect/>
          </a:stretch>
        </p:blipFill>
        <p:spPr>
          <a:xfrm>
            <a:off x="7341840" y="1762125"/>
            <a:ext cx="4373909" cy="3581400"/>
          </a:xfrm>
          <a:prstGeom prst="rect">
            <a:avLst/>
          </a:prstGeom>
        </p:spPr>
      </p:pic>
      <p:sp>
        <p:nvSpPr>
          <p:cNvPr id="16" name="TextBox 15"/>
          <p:cNvSpPr txBox="1"/>
          <p:nvPr/>
        </p:nvSpPr>
        <p:spPr>
          <a:xfrm>
            <a:off x="381000" y="147637"/>
            <a:ext cx="1266825" cy="314325"/>
          </a:xfrm>
          <a:prstGeom prst="rect">
            <a:avLst/>
          </a:prstGeom>
          <a:noFill/>
        </p:spPr>
        <p:txBody>
          <a:bodyPr wrap="square" lIns="0" rIns="0" tIns="0" bIns="0" anchor="t">
            <a:spAutoFit/>
          </a:bodyPr>
          <a:lstStyle/>
          <a:p>
            <a:pPr algn="l"/>
            <a:r>
              <a:rPr b="1" sz="1650" i="0" u="none">
                <a:solidFill>
                  <a:srgbClr val="FFFFFF"/>
                </a:solidFill>
                <a:latin typeface="Poppins"/>
              </a:rPr>
              <a:t>ABSTRACT</a:t>
            </a:r>
          </a:p>
        </p:txBody>
      </p:sp>
      <p:sp>
        <p:nvSpPr>
          <p:cNvPr id="17" name="TextBox 16"/>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18" name="TextBox 17"/>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19" name="TextBox 18"/>
          <p:cNvSpPr txBox="1"/>
          <p:nvPr/>
        </p:nvSpPr>
        <p:spPr>
          <a:xfrm>
            <a:off x="11306175" y="6605587"/>
            <a:ext cx="790575" cy="142875"/>
          </a:xfrm>
          <a:prstGeom prst="rect">
            <a:avLst/>
          </a:prstGeom>
          <a:noFill/>
        </p:spPr>
        <p:txBody>
          <a:bodyPr wrap="none" lIns="0" rIns="0" tIns="0" bIns="0" anchor="t">
            <a:spAutoFit/>
          </a:bodyPr>
          <a:lstStyle/>
          <a:p>
            <a:pPr algn="l"/>
            <a:r>
              <a:rPr b="0" sz="900" i="0" u="none">
                <a:solidFill>
                  <a:srgbClr val="FFFFFF"/>
                </a:solidFill>
                <a:latin typeface="Inter"/>
              </a:rPr>
              <a:t>SLIDE 03</a:t>
            </a:r>
          </a:p>
        </p:txBody>
      </p:sp>
      <p:sp>
        <p:nvSpPr>
          <p:cNvPr id="20" name="TextBox 19"/>
          <p:cNvSpPr txBox="1"/>
          <p:nvPr/>
        </p:nvSpPr>
        <p:spPr>
          <a:xfrm>
            <a:off x="733425" y="2230933"/>
            <a:ext cx="7935952" cy="200025"/>
          </a:xfrm>
          <a:prstGeom prst="rect">
            <a:avLst/>
          </a:prstGeom>
          <a:noFill/>
        </p:spPr>
        <p:txBody>
          <a:bodyPr wrap="none" lIns="0" rIns="0" tIns="0" bIns="0" anchor="t">
            <a:spAutoFit/>
          </a:bodyPr>
          <a:lstStyle/>
          <a:p>
            <a:pPr algn="l"/>
            <a:r>
              <a:rPr b="1" sz="1350" i="0" u="none">
                <a:solidFill>
                  <a:srgbClr val="800000"/>
                </a:solidFill>
                <a:latin typeface="Inter"/>
              </a:rPr>
              <a:t>Real-Time Water Monitoring Solution</a:t>
            </a:r>
          </a:p>
        </p:txBody>
      </p:sp>
      <p:sp>
        <p:nvSpPr>
          <p:cNvPr id="21" name="TextBox 20"/>
          <p:cNvSpPr txBox="1"/>
          <p:nvPr/>
        </p:nvSpPr>
        <p:spPr>
          <a:xfrm>
            <a:off x="733425" y="2526208"/>
            <a:ext cx="6141690" cy="731341"/>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Water quality monitoring is critical for human health and ecosystem sustainability. Traditional laboratory sampling is time-consuming, expensive, and lacks real-time alert capabilities.</a:t>
            </a:r>
          </a:p>
        </p:txBody>
      </p:sp>
      <p:sp>
        <p:nvSpPr>
          <p:cNvPr id="22" name="TextBox 21"/>
          <p:cNvSpPr txBox="1"/>
          <p:nvPr/>
        </p:nvSpPr>
        <p:spPr>
          <a:xfrm>
            <a:off x="733425" y="3848100"/>
            <a:ext cx="7935952" cy="200025"/>
          </a:xfrm>
          <a:prstGeom prst="rect">
            <a:avLst/>
          </a:prstGeom>
          <a:noFill/>
        </p:spPr>
        <p:txBody>
          <a:bodyPr wrap="none" lIns="0" rIns="0" tIns="0" bIns="0" anchor="t">
            <a:spAutoFit/>
          </a:bodyPr>
          <a:lstStyle/>
          <a:p>
            <a:pPr algn="l"/>
            <a:r>
              <a:rPr b="1" sz="1350" i="0" u="none">
                <a:solidFill>
                  <a:srgbClr val="800000"/>
                </a:solidFill>
                <a:latin typeface="Inter"/>
              </a:rPr>
              <a:t>Multi-Sensor Integration &amp; Telemetry</a:t>
            </a:r>
          </a:p>
        </p:txBody>
      </p:sp>
      <p:sp>
        <p:nvSpPr>
          <p:cNvPr id="23" name="TextBox 22"/>
          <p:cNvSpPr txBox="1"/>
          <p:nvPr/>
        </p:nvSpPr>
        <p:spPr>
          <a:xfrm>
            <a:off x="733425" y="4143375"/>
            <a:ext cx="6141690" cy="731341"/>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This project develops an autonomous IoT system utilizing </a:t>
            </a:r>
            <a:r>
              <a:rPr b="1" sz="1200" i="0" u="none">
                <a:solidFill>
                  <a:srgbClr val="334155"/>
                </a:solidFill>
                <a:latin typeface="Inter"/>
              </a:rPr>
              <a:t>pH, Turbidity, TDS, and Temperature sensors</a:t>
            </a:r>
            <a:r>
              <a:rPr b="0" sz="1200" i="0" u="none">
                <a:solidFill>
                  <a:srgbClr val="334155"/>
                </a:solidFill>
                <a:latin typeface="Inter"/>
              </a:rPr>
              <a:t> integrated with NodeMCU (ESP8266) to continuously measure contamination metrics and publish live telemetry to cloud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376487"/>
            <a:ext cx="5524500" cy="2352675"/>
          </a:xfrm>
          <a:prstGeom prst="roundRect">
            <a:avLst>
              <a:gd name="adj" fmla="val 323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0300" y="2376487"/>
            <a:ext cx="5524500" cy="2352675"/>
          </a:xfrm>
          <a:prstGeom prst="roundRect">
            <a:avLst>
              <a:gd name="adj" fmla="val 323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4719637"/>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376487"/>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76487"/>
            <a:ext cx="47625" cy="235267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72175" y="2376487"/>
            <a:ext cx="9525" cy="23526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4719637"/>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0300" y="2376487"/>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0300" y="2376487"/>
            <a:ext cx="47625" cy="235267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725275" y="2376487"/>
            <a:ext cx="9525" cy="23526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733425" y="2576512"/>
            <a:ext cx="381000" cy="381000"/>
          </a:xfrm>
          <a:prstGeom prst="rect">
            <a:avLst/>
          </a:prstGeom>
        </p:spPr>
      </p:pic>
      <p:pic>
        <p:nvPicPr>
          <p:cNvPr id="15" name="Picture 14" descr="image.png"/>
          <p:cNvPicPr>
            <a:picLocks noChangeAspect="1"/>
          </p:cNvPicPr>
          <p:nvPr/>
        </p:nvPicPr>
        <p:blipFill>
          <a:blip r:embed="rId2"/>
          <a:stretch>
            <a:fillRect/>
          </a:stretch>
        </p:blipFill>
        <p:spPr>
          <a:xfrm>
            <a:off x="6486525" y="2576512"/>
            <a:ext cx="381000" cy="381000"/>
          </a:xfrm>
          <a:prstGeom prst="rect">
            <a:avLst/>
          </a:prstGeom>
        </p:spPr>
      </p:pic>
      <p:pic>
        <p:nvPicPr>
          <p:cNvPr id="16" name="Picture 15" descr="image.png"/>
          <p:cNvPicPr>
            <a:picLocks noChangeAspect="1"/>
          </p:cNvPicPr>
          <p:nvPr/>
        </p:nvPicPr>
        <p:blipFill>
          <a:blip r:embed="rId3"/>
          <a:stretch>
            <a:fillRect/>
          </a:stretch>
        </p:blipFill>
        <p:spPr>
          <a:xfrm>
            <a:off x="828675" y="2671762"/>
            <a:ext cx="190500" cy="190500"/>
          </a:xfrm>
          <a:prstGeom prst="rect">
            <a:avLst/>
          </a:prstGeom>
        </p:spPr>
      </p:pic>
      <p:pic>
        <p:nvPicPr>
          <p:cNvPr id="17" name="Picture 16" descr="image.png"/>
          <p:cNvPicPr>
            <a:picLocks noChangeAspect="1"/>
          </p:cNvPicPr>
          <p:nvPr/>
        </p:nvPicPr>
        <p:blipFill>
          <a:blip r:embed="rId4"/>
          <a:stretch>
            <a:fillRect/>
          </a:stretch>
        </p:blipFill>
        <p:spPr>
          <a:xfrm>
            <a:off x="6581775" y="2671762"/>
            <a:ext cx="190500" cy="190500"/>
          </a:xfrm>
          <a:prstGeom prst="rect">
            <a:avLst/>
          </a:prstGeom>
        </p:spPr>
      </p:pic>
      <p:sp>
        <p:nvSpPr>
          <p:cNvPr id="18" name="TextBox 17"/>
          <p:cNvSpPr txBox="1"/>
          <p:nvPr/>
        </p:nvSpPr>
        <p:spPr>
          <a:xfrm>
            <a:off x="381000" y="147637"/>
            <a:ext cx="3819525" cy="314325"/>
          </a:xfrm>
          <a:prstGeom prst="rect">
            <a:avLst/>
          </a:prstGeom>
          <a:noFill/>
        </p:spPr>
        <p:txBody>
          <a:bodyPr wrap="square" lIns="0" rIns="0" tIns="0" bIns="0" anchor="t">
            <a:spAutoFit/>
          </a:bodyPr>
          <a:lstStyle/>
          <a:p>
            <a:pPr algn="l"/>
            <a:r>
              <a:rPr b="1" sz="1650" i="0" u="none">
                <a:solidFill>
                  <a:srgbClr val="FFFFFF"/>
                </a:solidFill>
                <a:latin typeface="Poppins"/>
              </a:rPr>
              <a:t>PROBLEM STATEMENT &amp; SOLUTION</a:t>
            </a:r>
          </a:p>
        </p:txBody>
      </p:sp>
      <p:sp>
        <p:nvSpPr>
          <p:cNvPr id="19" name="TextBox 1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20" name="TextBox 1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21" name="TextBox 20"/>
          <p:cNvSpPr txBox="1"/>
          <p:nvPr/>
        </p:nvSpPr>
        <p:spPr>
          <a:xfrm>
            <a:off x="11306175" y="6605587"/>
            <a:ext cx="790575" cy="142875"/>
          </a:xfrm>
          <a:prstGeom prst="rect">
            <a:avLst/>
          </a:prstGeom>
          <a:noFill/>
        </p:spPr>
        <p:txBody>
          <a:bodyPr wrap="none" lIns="0" rIns="0" tIns="0" bIns="0" anchor="t">
            <a:spAutoFit/>
          </a:bodyPr>
          <a:lstStyle/>
          <a:p>
            <a:pPr algn="l"/>
            <a:r>
              <a:rPr b="0" sz="900" i="0" u="none">
                <a:solidFill>
                  <a:srgbClr val="FFFFFF"/>
                </a:solidFill>
                <a:latin typeface="Inter"/>
              </a:rPr>
              <a:t>SLIDE 04</a:t>
            </a:r>
          </a:p>
        </p:txBody>
      </p:sp>
      <p:sp>
        <p:nvSpPr>
          <p:cNvPr id="22" name="TextBox 21"/>
          <p:cNvSpPr txBox="1"/>
          <p:nvPr/>
        </p:nvSpPr>
        <p:spPr>
          <a:xfrm>
            <a:off x="733425" y="3071812"/>
            <a:ext cx="6575821" cy="200025"/>
          </a:xfrm>
          <a:prstGeom prst="rect">
            <a:avLst/>
          </a:prstGeom>
          <a:noFill/>
        </p:spPr>
        <p:txBody>
          <a:bodyPr wrap="none" lIns="0" rIns="0" tIns="0" bIns="0" anchor="t">
            <a:spAutoFit/>
          </a:bodyPr>
          <a:lstStyle/>
          <a:p>
            <a:pPr algn="l"/>
            <a:r>
              <a:rPr b="1" sz="1350" i="0" u="none">
                <a:solidFill>
                  <a:srgbClr val="800000"/>
                </a:solidFill>
                <a:latin typeface="Inter"/>
              </a:rPr>
              <a:t>The Invisible Threat in Drinking Water</a:t>
            </a:r>
          </a:p>
        </p:txBody>
      </p:sp>
      <p:sp>
        <p:nvSpPr>
          <p:cNvPr id="23" name="TextBox 22"/>
          <p:cNvSpPr txBox="1"/>
          <p:nvPr/>
        </p:nvSpPr>
        <p:spPr>
          <a:xfrm>
            <a:off x="733425" y="3386137"/>
            <a:ext cx="5105400" cy="1143000"/>
          </a:xfrm>
          <a:prstGeom prst="rect">
            <a:avLst/>
          </a:prstGeom>
          <a:noFill/>
        </p:spPr>
        <p:txBody>
          <a:bodyPr wrap="square" lIns="0" rIns="0" tIns="0" bIns="0" anchor="t">
            <a:spAutoFit/>
          </a:bodyPr>
          <a:lstStyle/>
          <a:p>
            <a:pPr algn="l">
              <a:lnSpc>
                <a:spcPts val="1800"/>
              </a:lnSpc>
            </a:pPr>
            <a:r>
              <a:rPr b="0" sz="1125" i="0" u="none">
                <a:solidFill>
                  <a:srgbClr val="475569"/>
                </a:solidFill>
                <a:latin typeface="Inter"/>
              </a:rPr>
              <a:t>Most households and industries test water quality manually using lab methods or handheld meters, which are slow and non-continuous. People consume borewell or tap water without knowing if TDS levels have suddenly spiked beyond safe drinking limits, leading to long-term health issues like kidney stones and gastrointestinal diseases.</a:t>
            </a:r>
          </a:p>
        </p:txBody>
      </p:sp>
      <p:sp>
        <p:nvSpPr>
          <p:cNvPr id="24" name="TextBox 23"/>
          <p:cNvSpPr txBox="1"/>
          <p:nvPr/>
        </p:nvSpPr>
        <p:spPr>
          <a:xfrm>
            <a:off x="6486525" y="3071812"/>
            <a:ext cx="5705475" cy="200025"/>
          </a:xfrm>
          <a:prstGeom prst="rect">
            <a:avLst/>
          </a:prstGeom>
          <a:noFill/>
        </p:spPr>
        <p:txBody>
          <a:bodyPr wrap="none" lIns="0" rIns="0" tIns="0" bIns="0" anchor="t">
            <a:spAutoFit/>
          </a:bodyPr>
          <a:lstStyle/>
          <a:p>
            <a:pPr algn="l"/>
            <a:r>
              <a:rPr b="1" sz="1350" i="0" u="none">
                <a:solidFill>
                  <a:srgbClr val="800000"/>
                </a:solidFill>
                <a:latin typeface="Inter"/>
              </a:rPr>
              <a:t>Proposed ESP32 IoT Solution</a:t>
            </a:r>
          </a:p>
        </p:txBody>
      </p:sp>
      <p:sp>
        <p:nvSpPr>
          <p:cNvPr id="25" name="TextBox 24"/>
          <p:cNvSpPr txBox="1"/>
          <p:nvPr/>
        </p:nvSpPr>
        <p:spPr>
          <a:xfrm>
            <a:off x="6486525" y="3386137"/>
            <a:ext cx="5105400" cy="914400"/>
          </a:xfrm>
          <a:prstGeom prst="rect">
            <a:avLst/>
          </a:prstGeom>
          <a:noFill/>
        </p:spPr>
        <p:txBody>
          <a:bodyPr wrap="square" lIns="0" rIns="0" tIns="0" bIns="0" anchor="t">
            <a:spAutoFit/>
          </a:bodyPr>
          <a:lstStyle/>
          <a:p>
            <a:pPr algn="l">
              <a:lnSpc>
                <a:spcPts val="1800"/>
              </a:lnSpc>
            </a:pPr>
            <a:r>
              <a:rPr b="0" sz="1125" i="0" u="none">
                <a:solidFill>
                  <a:srgbClr val="475569"/>
                </a:solidFill>
                <a:latin typeface="Inter"/>
              </a:rPr>
              <a:t>A low-cost (&lt; ₹800), portable solution for real-time TDS detection and drinking water quality assessment using an ESP32 development board and analog TDS sensor probe, delivering instant wireless telemetry and local display readings.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143125"/>
            <a:ext cx="11277600" cy="28194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2143125"/>
          <a:ext cx="11268073" cy="2819400"/>
        </p:xfrm>
        <a:graphic>
          <a:graphicData uri="http://schemas.openxmlformats.org/drawingml/2006/table">
            <a:tbl>
              <a:tblPr firstRow="0" bandRow="0">
                <a:lnL>
                  <a:noFill/>
                </a:lnL>
                <a:lnR>
                  <a:noFill/>
                </a:lnR>
                <a:lnT>
                  <a:noFill/>
                </a:lnT>
                <a:lnB>
                  <a:noFill/>
                </a:lnB>
                <a:lnV>
                  <a:noFill/>
                </a:lnV>
                <a:lnH>
                  <a:noFill/>
                </a:lnH>
              </a:tblPr>
              <a:tblGrid>
                <a:gridCol w="2478881"/>
                <a:gridCol w="3155007"/>
                <a:gridCol w="2817018"/>
                <a:gridCol w="2817167"/>
              </a:tblGrid>
              <a:tr h="563880">
                <a:tc>
                  <a:txBody>
                    <a:bodyPr/>
                    <a:lstStyle/>
                    <a:p>
                      <a:pPr algn="l"/>
                      <a:r>
                        <a:rPr b="1" sz="1125" i="0" u="none">
                          <a:solidFill>
                            <a:srgbClr val="FFFFFF"/>
                          </a:solidFill>
                          <a:latin typeface="Inter"/>
                        </a:rPr>
                        <a:t>Author &amp; Year</a:t>
                      </a:r>
                    </a:p>
                  </a:txBody>
                  <a:tcPr anchor="ctr" marL="63500" marR="63500" marT="25400" marB="25400">
                    <a:lnL>
                      <a:noFill/>
                    </a:lnL>
                    <a:lnR>
                      <a:noFill/>
                    </a:lnR>
                    <a:lnT>
                      <a:noFill/>
                    </a:lnT>
                    <a:lnB>
                      <a:noFill/>
                    </a:lnB>
                    <a:solidFill>
                      <a:srgbClr val="800000"/>
                    </a:solidFill>
                  </a:tcPr>
                </a:tc>
                <a:tc>
                  <a:txBody>
                    <a:bodyPr/>
                    <a:lstStyle/>
                    <a:p>
                      <a:pPr algn="l"/>
                      <a:r>
                        <a:rPr b="1" sz="1125" i="0" u="none">
                          <a:solidFill>
                            <a:srgbClr val="FFFFFF"/>
                          </a:solidFill>
                          <a:latin typeface="Inter"/>
                        </a:rPr>
                        <a:t>Methodology Used</a:t>
                      </a:r>
                    </a:p>
                  </a:txBody>
                  <a:tcPr anchor="ctr" marL="63500" marR="63500" marT="25400" marB="25400">
                    <a:lnL>
                      <a:noFill/>
                    </a:lnL>
                    <a:lnR>
                      <a:noFill/>
                    </a:lnR>
                    <a:lnT>
                      <a:noFill/>
                    </a:lnT>
                    <a:lnB>
                      <a:noFill/>
                    </a:lnB>
                    <a:solidFill>
                      <a:srgbClr val="800000"/>
                    </a:solidFill>
                  </a:tcPr>
                </a:tc>
                <a:tc>
                  <a:txBody>
                    <a:bodyPr/>
                    <a:lstStyle/>
                    <a:p>
                      <a:pPr algn="l"/>
                      <a:r>
                        <a:rPr b="1" sz="1125" i="0" u="none">
                          <a:solidFill>
                            <a:srgbClr val="FFFFFF"/>
                          </a:solidFill>
                          <a:latin typeface="Inter"/>
                        </a:rPr>
                        <a:t>Key Findings</a:t>
                      </a:r>
                    </a:p>
                  </a:txBody>
                  <a:tcPr anchor="ctr" marL="63500" marR="63500" marT="25400" marB="25400">
                    <a:lnL>
                      <a:noFill/>
                    </a:lnL>
                    <a:lnR>
                      <a:noFill/>
                    </a:lnR>
                    <a:lnT>
                      <a:noFill/>
                    </a:lnT>
                    <a:lnB>
                      <a:noFill/>
                    </a:lnB>
                    <a:solidFill>
                      <a:srgbClr val="800000"/>
                    </a:solidFill>
                  </a:tcPr>
                </a:tc>
                <a:tc>
                  <a:txBody>
                    <a:bodyPr/>
                    <a:lstStyle/>
                    <a:p>
                      <a:pPr algn="l"/>
                      <a:r>
                        <a:rPr b="1" sz="1125" i="0" u="none">
                          <a:solidFill>
                            <a:srgbClr val="FFFFFF"/>
                          </a:solidFill>
                          <a:latin typeface="Inter"/>
                        </a:rPr>
                        <a:t>Identified Limitations</a:t>
                      </a:r>
                    </a:p>
                  </a:txBody>
                  <a:tcPr anchor="ctr" marL="63500" marR="63500" marT="25400" marB="25400">
                    <a:lnL>
                      <a:noFill/>
                    </a:lnL>
                    <a:lnR>
                      <a:noFill/>
                    </a:lnR>
                    <a:lnT>
                      <a:noFill/>
                    </a:lnT>
                    <a:lnB>
                      <a:noFill/>
                    </a:lnB>
                    <a:solidFill>
                      <a:srgbClr val="800000"/>
                    </a:solidFill>
                  </a:tcPr>
                </a:tc>
              </a:tr>
              <a:tr h="563880">
                <a:tc>
                  <a:txBody>
                    <a:bodyPr/>
                    <a:lstStyle/>
                    <a:p>
                      <a:pPr algn="l"/>
                      <a:r>
                        <a:rPr b="1" sz="1125" i="0" u="none">
                          <a:solidFill>
                            <a:srgbClr val="800000"/>
                          </a:solidFill>
                          <a:latin typeface="Inter"/>
                        </a:rPr>
                        <a:t>Taru &amp; Karwankar (2021)</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Arduino + LabVIEW monitoring system</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Accurate laboratory-grade pH tracking</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High cost, lacks cellular/mobile telemetry</a:t>
                      </a:r>
                    </a:p>
                  </a:txBody>
                  <a:tcPr anchor="ctr" marL="63500" marR="63500" marT="25400" marB="25400">
                    <a:lnL>
                      <a:noFill/>
                    </a:lnL>
                    <a:lnR>
                      <a:noFill/>
                    </a:lnR>
                    <a:lnT>
                      <a:noFill/>
                    </a:lnT>
                    <a:lnB>
                      <a:noFill/>
                    </a:lnB>
                    <a:solidFill>
                      <a:srgbClr val="F8FAFC"/>
                    </a:solidFill>
                  </a:tcPr>
                </a:tc>
              </a:tr>
              <a:tr h="563880">
                <a:tc>
                  <a:txBody>
                    <a:bodyPr/>
                    <a:lstStyle/>
                    <a:p>
                      <a:pPr algn="l"/>
                      <a:r>
                        <a:rPr b="1" sz="1125" i="0" u="none">
                          <a:solidFill>
                            <a:srgbClr val="800000"/>
                          </a:solidFill>
                          <a:latin typeface="Inter"/>
                        </a:rPr>
                        <a:t>Jadhav et al. (2022)</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1E293B"/>
                          </a:solidFill>
                          <a:latin typeface="Inter"/>
                        </a:rPr>
                        <a:t>Raspberry Pi + Cloud web server platform</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1E293B"/>
                          </a:solidFill>
                          <a:latin typeface="Inter"/>
                        </a:rPr>
                        <a:t>Multi-point sampling capabilities</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1E293B"/>
                          </a:solidFill>
                          <a:latin typeface="Inter"/>
                        </a:rPr>
                        <a:t>High power consumption for field nodes</a:t>
                      </a:r>
                    </a:p>
                  </a:txBody>
                  <a:tcPr anchor="ctr" marL="63500" marR="63500" marT="25400" marB="25400">
                    <a:lnL>
                      <a:noFill/>
                    </a:lnL>
                    <a:lnR>
                      <a:noFill/>
                    </a:lnR>
                    <a:lnT>
                      <a:noFill/>
                    </a:lnT>
                    <a:lnB>
                      <a:noFill/>
                    </a:lnB>
                    <a:solidFill>
                      <a:srgbClr val="FFFFFF"/>
                    </a:solidFill>
                  </a:tcPr>
                </a:tc>
              </a:tr>
              <a:tr h="563880">
                <a:tc>
                  <a:txBody>
                    <a:bodyPr/>
                    <a:lstStyle/>
                    <a:p>
                      <a:pPr algn="l"/>
                      <a:r>
                        <a:rPr b="1" sz="1125" i="0" u="none">
                          <a:solidFill>
                            <a:srgbClr val="800000"/>
                          </a:solidFill>
                          <a:latin typeface="Inter"/>
                        </a:rPr>
                        <a:t>Siddharthan et al. (2023)</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ESP8266 + Single parameter turbidity test</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Low power wireless transmission</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1E293B"/>
                          </a:solidFill>
                          <a:latin typeface="Inter"/>
                        </a:rPr>
                        <a:t>Missing chemical TDS &amp; pH evaluation</a:t>
                      </a:r>
                    </a:p>
                  </a:txBody>
                  <a:tcPr anchor="ctr" marL="63500" marR="63500" marT="25400" marB="25400">
                    <a:lnL>
                      <a:noFill/>
                    </a:lnL>
                    <a:lnR>
                      <a:noFill/>
                    </a:lnR>
                    <a:lnT>
                      <a:noFill/>
                    </a:lnT>
                    <a:lnB>
                      <a:noFill/>
                    </a:lnB>
                    <a:solidFill>
                      <a:srgbClr val="F8FAFC"/>
                    </a:solidFill>
                  </a:tcPr>
                </a:tc>
              </a:tr>
              <a:tr h="563880">
                <a:tc>
                  <a:txBody>
                    <a:bodyPr/>
                    <a:lstStyle/>
                    <a:p>
                      <a:pPr algn="l"/>
                      <a:r>
                        <a:rPr b="1" sz="1125" i="0" u="none">
                          <a:solidFill>
                            <a:srgbClr val="800000"/>
                          </a:solidFill>
                          <a:latin typeface="Inter"/>
                        </a:rPr>
                        <a:t>Proposed System (2026)</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1E293B"/>
                          </a:solidFill>
                          <a:latin typeface="Inter"/>
                        </a:rPr>
                        <a:t>ESP8266 + Multi-sensor fusion (pH/TDS/NTU/Temp)</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1E293B"/>
                          </a:solidFill>
                          <a:latin typeface="Inter"/>
                        </a:rPr>
                        <a:t>Real-time cloud analytics &amp; live alerts</a:t>
                      </a:r>
                    </a:p>
                  </a:txBody>
                  <a:tcPr anchor="ctr" marL="63500" marR="63500" marT="25400" marB="25400">
                    <a:lnL>
                      <a:noFill/>
                    </a:lnL>
                    <a:lnR>
                      <a:noFill/>
                    </a:lnR>
                    <a:lnT>
                      <a:noFill/>
                    </a:lnT>
                    <a:lnB>
                      <a:noFill/>
                    </a:lnB>
                    <a:solidFill>
                      <a:srgbClr val="FFFFFF"/>
                    </a:solidFill>
                  </a:tcPr>
                </a:tc>
                <a:tc>
                  <a:txBody>
                    <a:bodyPr/>
                    <a:lstStyle/>
                    <a:p>
                      <a:pPr algn="l"/>
                      <a:r>
                        <a:rPr b="1" sz="1125" i="0" u="none">
                          <a:solidFill>
                            <a:srgbClr val="1E293B"/>
                          </a:solidFill>
                          <a:latin typeface="Inter"/>
                        </a:rPr>
                        <a:t>Addressed:</a:t>
                      </a:r>
                      <a:r>
                        <a:rPr b="0" sz="1125" i="0" u="none">
                          <a:solidFill>
                            <a:srgbClr val="1E293B"/>
                          </a:solidFill>
                          <a:latin typeface="Inter"/>
                        </a:rPr>
                        <a:t> Low power, complete purity analysis</a:t>
                      </a:r>
                    </a:p>
                  </a:txBody>
                  <a:tcPr anchor="ctr" marL="63500" marR="63500" marT="25400" marB="25400">
                    <a:lnL>
                      <a:noFill/>
                    </a:lnL>
                    <a:lnR>
                      <a:noFill/>
                    </a:lnR>
                    <a:lnT>
                      <a:noFill/>
                    </a:lnT>
                    <a:lnB>
                      <a:noFill/>
                    </a:lnB>
                    <a:solidFill>
                      <a:srgbClr val="FFFFFF"/>
                    </a:solidFill>
                  </a:tcPr>
                </a:tc>
              </a:tr>
            </a:tbl>
          </a:graphicData>
        </a:graphic>
      </p:graphicFrame>
      <p:sp>
        <p:nvSpPr>
          <p:cNvPr id="6" name="TextBox 5"/>
          <p:cNvSpPr txBox="1"/>
          <p:nvPr/>
        </p:nvSpPr>
        <p:spPr>
          <a:xfrm>
            <a:off x="381000" y="147637"/>
            <a:ext cx="2243137" cy="314325"/>
          </a:xfrm>
          <a:prstGeom prst="rect">
            <a:avLst/>
          </a:prstGeom>
          <a:noFill/>
        </p:spPr>
        <p:txBody>
          <a:bodyPr wrap="square" lIns="0" rIns="0" tIns="0" bIns="0" anchor="t">
            <a:spAutoFit/>
          </a:bodyPr>
          <a:lstStyle/>
          <a:p>
            <a:pPr algn="l"/>
            <a:r>
              <a:rPr b="1" sz="1650" i="0" u="none">
                <a:solidFill>
                  <a:srgbClr val="FFFFFF"/>
                </a:solidFill>
                <a:latin typeface="Poppins"/>
              </a:rPr>
              <a:t>LITERATURE SURVEY</a:t>
            </a:r>
          </a:p>
        </p:txBody>
      </p:sp>
      <p:sp>
        <p:nvSpPr>
          <p:cNvPr id="7" name="TextBox 6"/>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8" name="TextBox 7"/>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9" name="TextBox 8"/>
          <p:cNvSpPr txBox="1"/>
          <p:nvPr/>
        </p:nvSpPr>
        <p:spPr>
          <a:xfrm>
            <a:off x="11315700" y="6605587"/>
            <a:ext cx="781050" cy="142875"/>
          </a:xfrm>
          <a:prstGeom prst="rect">
            <a:avLst/>
          </a:prstGeom>
          <a:noFill/>
        </p:spPr>
        <p:txBody>
          <a:bodyPr wrap="none" lIns="0" rIns="0" tIns="0" bIns="0" anchor="t">
            <a:spAutoFit/>
          </a:bodyPr>
          <a:lstStyle/>
          <a:p>
            <a:pPr algn="l"/>
            <a:r>
              <a:rPr b="0" sz="900" i="0" u="none">
                <a:solidFill>
                  <a:srgbClr val="FFFFFF"/>
                </a:solidFill>
                <a:latin typeface="Inter"/>
              </a:rPr>
              <a:t>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4052887"/>
            <a:ext cx="11277600" cy="581025"/>
          </a:xfrm>
          <a:prstGeom prst="roundRect">
            <a:avLst>
              <a:gd name="adj" fmla="val 1311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471737"/>
            <a:ext cx="3409950" cy="1352550"/>
          </a:xfrm>
          <a:prstGeom prst="roundRect">
            <a:avLst>
              <a:gd name="adj" fmla="val 7042"/>
            </a:avLst>
          </a:prstGeom>
          <a:solidFill>
            <a:srgbClr val="F1F5F9"/>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10075" y="2476500"/>
            <a:ext cx="3371850" cy="1343025"/>
          </a:xfrm>
          <a:prstGeom prst="roundRect">
            <a:avLst>
              <a:gd name="adj" fmla="val 7092"/>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24850" y="2471737"/>
            <a:ext cx="3409950" cy="1352550"/>
          </a:xfrm>
          <a:prstGeom prst="roundRect">
            <a:avLst>
              <a:gd name="adj" fmla="val 7042"/>
            </a:avLst>
          </a:prstGeom>
          <a:solidFill>
            <a:srgbClr val="F1F5F9"/>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62438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05288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052887"/>
            <a:ext cx="47625" cy="5810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25275" y="4052887"/>
            <a:ext cx="9525" cy="5810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50" y="2947987"/>
            <a:ext cx="3067050"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8650" y="3338512"/>
            <a:ext cx="3067050"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96300" y="2947987"/>
            <a:ext cx="3067050"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96300" y="3338512"/>
            <a:ext cx="3067050" cy="314325"/>
          </a:xfrm>
          <a:prstGeom prst="roundRect">
            <a:avLst>
              <a:gd name="adj" fmla="val 1212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2"/>
          <a:stretch>
            <a:fillRect/>
          </a:stretch>
        </p:blipFill>
        <p:spPr>
          <a:xfrm>
            <a:off x="4019550" y="3014662"/>
            <a:ext cx="238125" cy="266700"/>
          </a:xfrm>
          <a:prstGeom prst="rect">
            <a:avLst/>
          </a:prstGeom>
        </p:spPr>
      </p:pic>
      <p:pic>
        <p:nvPicPr>
          <p:cNvPr id="17" name="Picture 16" descr="image.png"/>
          <p:cNvPicPr>
            <a:picLocks noChangeAspect="1"/>
          </p:cNvPicPr>
          <p:nvPr/>
        </p:nvPicPr>
        <p:blipFill>
          <a:blip r:embed="rId2"/>
          <a:stretch>
            <a:fillRect/>
          </a:stretch>
        </p:blipFill>
        <p:spPr>
          <a:xfrm>
            <a:off x="7934325" y="3014662"/>
            <a:ext cx="238125" cy="266700"/>
          </a:xfrm>
          <a:prstGeom prst="rect">
            <a:avLst/>
          </a:prstGeom>
        </p:spPr>
      </p:pic>
      <p:sp>
        <p:nvSpPr>
          <p:cNvPr id="18" name="TextBox 17"/>
          <p:cNvSpPr txBox="1"/>
          <p:nvPr/>
        </p:nvSpPr>
        <p:spPr>
          <a:xfrm>
            <a:off x="381000" y="147637"/>
            <a:ext cx="4738687" cy="314325"/>
          </a:xfrm>
          <a:prstGeom prst="rect">
            <a:avLst/>
          </a:prstGeom>
          <a:noFill/>
        </p:spPr>
        <p:txBody>
          <a:bodyPr wrap="square" lIns="0" rIns="0" tIns="0" bIns="0" anchor="t">
            <a:spAutoFit/>
          </a:bodyPr>
          <a:lstStyle/>
          <a:p>
            <a:pPr algn="l"/>
            <a:r>
              <a:rPr b="1" sz="1650" i="0" u="none">
                <a:solidFill>
                  <a:srgbClr val="FFFFFF"/>
                </a:solidFill>
                <a:latin typeface="Poppins"/>
              </a:rPr>
              <a:t>BLOCK DIAGRAM &amp; CIRCUIT CONNECTIONS</a:t>
            </a:r>
          </a:p>
        </p:txBody>
      </p:sp>
      <p:sp>
        <p:nvSpPr>
          <p:cNvPr id="19" name="TextBox 1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20" name="TextBox 1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21" name="TextBox 20"/>
          <p:cNvSpPr txBox="1"/>
          <p:nvPr/>
        </p:nvSpPr>
        <p:spPr>
          <a:xfrm>
            <a:off x="11306175" y="6605587"/>
            <a:ext cx="790575" cy="142875"/>
          </a:xfrm>
          <a:prstGeom prst="rect">
            <a:avLst/>
          </a:prstGeom>
          <a:noFill/>
        </p:spPr>
        <p:txBody>
          <a:bodyPr wrap="none" lIns="0" rIns="0" tIns="0" bIns="0" anchor="t">
            <a:spAutoFit/>
          </a:bodyPr>
          <a:lstStyle/>
          <a:p>
            <a:pPr algn="l"/>
            <a:r>
              <a:rPr b="0" sz="900" i="0" u="none">
                <a:solidFill>
                  <a:srgbClr val="FFFFFF"/>
                </a:solidFill>
                <a:latin typeface="Inter"/>
              </a:rPr>
              <a:t>SLIDE 06</a:t>
            </a:r>
          </a:p>
        </p:txBody>
      </p:sp>
      <p:sp>
        <p:nvSpPr>
          <p:cNvPr id="22" name="TextBox 21"/>
          <p:cNvSpPr txBox="1"/>
          <p:nvPr/>
        </p:nvSpPr>
        <p:spPr>
          <a:xfrm>
            <a:off x="-286940" y="4252912"/>
            <a:ext cx="12803981" cy="180975"/>
          </a:xfrm>
          <a:prstGeom prst="rect">
            <a:avLst/>
          </a:prstGeom>
          <a:noFill/>
        </p:spPr>
        <p:txBody>
          <a:bodyPr wrap="none" lIns="0" rIns="0" tIns="0" bIns="0" anchor="t">
            <a:spAutoFit/>
          </a:bodyPr>
          <a:lstStyle/>
          <a:p>
            <a:pPr algn="ctr"/>
            <a:r>
              <a:rPr b="1" sz="1125" i="0" u="none">
                <a:solidFill>
                  <a:srgbClr val="334155"/>
                </a:solidFill>
                <a:latin typeface="Inter"/>
              </a:rPr>
              <a:t>Circuit Interconnection:</a:t>
            </a:r>
            <a:r>
              <a:rPr b="1" sz="1125" i="0" u="none">
                <a:solidFill>
                  <a:srgbClr val="334155"/>
                </a:solidFill>
                <a:latin typeface="Inter"/>
              </a:rPr>
              <a:t> Analog TDS Sensor Probe → ADC Input Pin on ESP32 Development Board → 5V DC Power Source (USB Power Bank / Adapter).</a:t>
            </a:r>
          </a:p>
        </p:txBody>
      </p:sp>
      <p:sp>
        <p:nvSpPr>
          <p:cNvPr id="23" name="TextBox 22"/>
          <p:cNvSpPr txBox="1"/>
          <p:nvPr/>
        </p:nvSpPr>
        <p:spPr>
          <a:xfrm>
            <a:off x="149423" y="2643187"/>
            <a:ext cx="4025503" cy="190500"/>
          </a:xfrm>
          <a:prstGeom prst="rect">
            <a:avLst/>
          </a:prstGeom>
          <a:noFill/>
        </p:spPr>
        <p:txBody>
          <a:bodyPr wrap="none" lIns="0" rIns="0" tIns="0" bIns="0" anchor="t">
            <a:spAutoFit/>
          </a:bodyPr>
          <a:lstStyle/>
          <a:p>
            <a:pPr algn="ctr"/>
            <a:r>
              <a:rPr b="1" sz="1200" i="0" u="none">
                <a:solidFill>
                  <a:srgbClr val="800000"/>
                </a:solidFill>
                <a:latin typeface="Inter"/>
              </a:rPr>
              <a:t>SENSING LAYER</a:t>
            </a:r>
          </a:p>
        </p:txBody>
      </p:sp>
      <p:sp>
        <p:nvSpPr>
          <p:cNvPr id="24" name="TextBox 23"/>
          <p:cNvSpPr txBox="1"/>
          <p:nvPr/>
        </p:nvSpPr>
        <p:spPr>
          <a:xfrm>
            <a:off x="4083248" y="2705100"/>
            <a:ext cx="4025503" cy="200025"/>
          </a:xfrm>
          <a:prstGeom prst="rect">
            <a:avLst/>
          </a:prstGeom>
          <a:noFill/>
        </p:spPr>
        <p:txBody>
          <a:bodyPr wrap="none" lIns="0" rIns="0" tIns="0" bIns="0" anchor="t">
            <a:spAutoFit/>
          </a:bodyPr>
          <a:lstStyle/>
          <a:p>
            <a:pPr algn="ctr"/>
            <a:r>
              <a:rPr b="1" sz="1350" i="0" u="none">
                <a:solidFill>
                  <a:srgbClr val="FFFFFF"/>
                </a:solidFill>
                <a:latin typeface="Inter"/>
              </a:rPr>
              <a:t>CORE MICROCONTROLLER</a:t>
            </a:r>
          </a:p>
        </p:txBody>
      </p:sp>
      <p:sp>
        <p:nvSpPr>
          <p:cNvPr id="25" name="TextBox 24"/>
          <p:cNvSpPr txBox="1"/>
          <p:nvPr/>
        </p:nvSpPr>
        <p:spPr>
          <a:xfrm>
            <a:off x="4179093" y="3019425"/>
            <a:ext cx="3833812" cy="190500"/>
          </a:xfrm>
          <a:prstGeom prst="rect">
            <a:avLst/>
          </a:prstGeom>
          <a:noFill/>
        </p:spPr>
        <p:txBody>
          <a:bodyPr wrap="none" lIns="0" rIns="0" tIns="0" bIns="0" anchor="t">
            <a:spAutoFit/>
          </a:bodyPr>
          <a:lstStyle/>
          <a:p>
            <a:pPr algn="ctr"/>
            <a:r>
              <a:rPr b="1" sz="1200" i="0" u="none">
                <a:solidFill>
                  <a:srgbClr val="FFFFFF"/>
                </a:solidFill>
                <a:latin typeface="Inter"/>
              </a:rPr>
              <a:t>ESP32 Board</a:t>
            </a:r>
          </a:p>
        </p:txBody>
      </p:sp>
      <p:sp>
        <p:nvSpPr>
          <p:cNvPr id="26" name="TextBox 25"/>
          <p:cNvSpPr txBox="1"/>
          <p:nvPr/>
        </p:nvSpPr>
        <p:spPr>
          <a:xfrm>
            <a:off x="4179093" y="3286125"/>
            <a:ext cx="3833812" cy="304800"/>
          </a:xfrm>
          <a:prstGeom prst="rect">
            <a:avLst/>
          </a:prstGeom>
          <a:noFill/>
        </p:spPr>
        <p:txBody>
          <a:bodyPr wrap="square" lIns="0" rIns="0" tIns="0" bIns="0" anchor="t">
            <a:spAutoFit/>
          </a:bodyPr>
          <a:lstStyle/>
          <a:p>
            <a:pPr algn="ctr"/>
            <a:r>
              <a:rPr b="0" sz="975" i="0" u="none">
                <a:solidFill>
                  <a:srgbClr val="FFFFFF"/>
                </a:solidFill>
                <a:latin typeface="Inter"/>
              </a:rPr>
              <a:t>Wi-Fi/Bluetooth Microcontroller with 12-bit ADC Sampling</a:t>
            </a:r>
          </a:p>
        </p:txBody>
      </p:sp>
      <p:sp>
        <p:nvSpPr>
          <p:cNvPr id="27" name="TextBox 26"/>
          <p:cNvSpPr txBox="1"/>
          <p:nvPr/>
        </p:nvSpPr>
        <p:spPr>
          <a:xfrm>
            <a:off x="8017073" y="2643187"/>
            <a:ext cx="4025503" cy="190500"/>
          </a:xfrm>
          <a:prstGeom prst="rect">
            <a:avLst/>
          </a:prstGeom>
          <a:noFill/>
        </p:spPr>
        <p:txBody>
          <a:bodyPr wrap="none" lIns="0" rIns="0" tIns="0" bIns="0" anchor="t">
            <a:spAutoFit/>
          </a:bodyPr>
          <a:lstStyle/>
          <a:p>
            <a:pPr algn="ctr"/>
            <a:r>
              <a:rPr b="1" sz="1200" i="0" u="none">
                <a:solidFill>
                  <a:srgbClr val="800000"/>
                </a:solidFill>
                <a:latin typeface="Inter"/>
              </a:rPr>
              <a:t>DISPLAY &amp; IOT DASHBOARD</a:t>
            </a:r>
          </a:p>
        </p:txBody>
      </p:sp>
      <p:sp>
        <p:nvSpPr>
          <p:cNvPr id="28" name="TextBox 27"/>
          <p:cNvSpPr txBox="1"/>
          <p:nvPr/>
        </p:nvSpPr>
        <p:spPr>
          <a:xfrm>
            <a:off x="321468" y="3024187"/>
            <a:ext cx="3681412" cy="161925"/>
          </a:xfrm>
          <a:prstGeom prst="rect">
            <a:avLst/>
          </a:prstGeom>
          <a:noFill/>
        </p:spPr>
        <p:txBody>
          <a:bodyPr wrap="square" lIns="0" rIns="0" tIns="0" bIns="0" anchor="t">
            <a:spAutoFit/>
          </a:bodyPr>
          <a:lstStyle/>
          <a:p>
            <a:pPr algn="ctr"/>
            <a:r>
              <a:rPr b="1" sz="1050" i="0" u="none">
                <a:solidFill>
                  <a:srgbClr val="1E293B"/>
                </a:solidFill>
                <a:latin typeface="Inter"/>
              </a:rPr>
              <a:t>Analog TDS Sensor Probe</a:t>
            </a:r>
          </a:p>
        </p:txBody>
      </p:sp>
      <p:sp>
        <p:nvSpPr>
          <p:cNvPr id="29" name="TextBox 28"/>
          <p:cNvSpPr txBox="1"/>
          <p:nvPr/>
        </p:nvSpPr>
        <p:spPr>
          <a:xfrm>
            <a:off x="321468" y="3414712"/>
            <a:ext cx="3681412" cy="161925"/>
          </a:xfrm>
          <a:prstGeom prst="rect">
            <a:avLst/>
          </a:prstGeom>
          <a:noFill/>
        </p:spPr>
        <p:txBody>
          <a:bodyPr wrap="square" lIns="0" rIns="0" tIns="0" bIns="0" anchor="t">
            <a:spAutoFit/>
          </a:bodyPr>
          <a:lstStyle/>
          <a:p>
            <a:pPr algn="ctr"/>
            <a:r>
              <a:rPr b="1" sz="1050" i="0" u="none">
                <a:solidFill>
                  <a:srgbClr val="1E293B"/>
                </a:solidFill>
                <a:latin typeface="Inter"/>
              </a:rPr>
              <a:t>Connecting Jumper Wires</a:t>
            </a:r>
          </a:p>
        </p:txBody>
      </p:sp>
      <p:sp>
        <p:nvSpPr>
          <p:cNvPr id="30" name="TextBox 29"/>
          <p:cNvSpPr txBox="1"/>
          <p:nvPr/>
        </p:nvSpPr>
        <p:spPr>
          <a:xfrm>
            <a:off x="8189118" y="3024187"/>
            <a:ext cx="3681412" cy="161925"/>
          </a:xfrm>
          <a:prstGeom prst="rect">
            <a:avLst/>
          </a:prstGeom>
          <a:noFill/>
        </p:spPr>
        <p:txBody>
          <a:bodyPr wrap="square" lIns="0" rIns="0" tIns="0" bIns="0" anchor="t">
            <a:spAutoFit/>
          </a:bodyPr>
          <a:lstStyle/>
          <a:p>
            <a:pPr algn="ctr"/>
            <a:r>
              <a:rPr b="1" sz="1050" i="0" u="none">
                <a:solidFill>
                  <a:srgbClr val="1E293B"/>
                </a:solidFill>
                <a:latin typeface="Inter"/>
              </a:rPr>
              <a:t>OLED Display / Breadboard</a:t>
            </a:r>
          </a:p>
        </p:txBody>
      </p:sp>
      <p:sp>
        <p:nvSpPr>
          <p:cNvPr id="31" name="TextBox 30"/>
          <p:cNvSpPr txBox="1"/>
          <p:nvPr/>
        </p:nvSpPr>
        <p:spPr>
          <a:xfrm>
            <a:off x="8189118" y="3414712"/>
            <a:ext cx="3681412" cy="161925"/>
          </a:xfrm>
          <a:prstGeom prst="rect">
            <a:avLst/>
          </a:prstGeom>
          <a:noFill/>
        </p:spPr>
        <p:txBody>
          <a:bodyPr wrap="square" lIns="0" rIns="0" tIns="0" bIns="0" anchor="t">
            <a:spAutoFit/>
          </a:bodyPr>
          <a:lstStyle/>
          <a:p>
            <a:pPr algn="ctr"/>
            <a:r>
              <a:rPr b="1" sz="1050" i="0" u="none">
                <a:solidFill>
                  <a:srgbClr val="1E293B"/>
                </a:solidFill>
                <a:latin typeface="Inter"/>
              </a:rPr>
              <a:t>ThingSpeak / Blynk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0112" y="3357562"/>
            <a:ext cx="809625" cy="390525"/>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05037" y="3238500"/>
            <a:ext cx="133350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05037" y="3857625"/>
            <a:ext cx="1333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5037" y="3238500"/>
            <a:ext cx="1333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05037" y="3238500"/>
            <a:ext cx="47625" cy="6286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9012" y="3238500"/>
            <a:ext cx="9525" cy="6286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33837" y="3238500"/>
            <a:ext cx="142875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33837" y="3857625"/>
            <a:ext cx="1428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33837" y="3238500"/>
            <a:ext cx="1428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33837" y="3238500"/>
            <a:ext cx="47625" cy="6286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53062" y="3238500"/>
            <a:ext cx="9525" cy="6286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57887" y="3324225"/>
            <a:ext cx="2019300" cy="457200"/>
          </a:xfrm>
          <a:prstGeom prst="roundRect">
            <a:avLst>
              <a:gd name="adj" fmla="val 16666"/>
            </a:avLst>
          </a:prstGeom>
          <a:solidFill>
            <a:srgbClr val="FFF5F5"/>
          </a:solidFill>
          <a:ln w="19050">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72487" y="3238500"/>
            <a:ext cx="1428750" cy="628650"/>
          </a:xfrm>
          <a:prstGeom prst="roundRect">
            <a:avLst>
              <a:gd name="adj" fmla="val 1212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72487" y="3857625"/>
            <a:ext cx="1428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72487" y="3238500"/>
            <a:ext cx="1428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72487" y="3238500"/>
            <a:ext cx="47625" cy="6286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91712" y="3238500"/>
            <a:ext cx="9525" cy="6286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396537" y="3357562"/>
            <a:ext cx="895350" cy="390525"/>
          </a:xfrm>
          <a:prstGeom prst="roundRect">
            <a:avLst>
              <a:gd name="adj" fmla="val 50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2"/>
          <a:stretch>
            <a:fillRect/>
          </a:stretch>
        </p:blipFill>
        <p:spPr>
          <a:xfrm>
            <a:off x="1900237" y="3457575"/>
            <a:ext cx="114300" cy="190500"/>
          </a:xfrm>
          <a:prstGeom prst="rect">
            <a:avLst/>
          </a:prstGeom>
        </p:spPr>
      </p:pic>
      <p:pic>
        <p:nvPicPr>
          <p:cNvPr id="23" name="Picture 22" descr="image.png"/>
          <p:cNvPicPr>
            <a:picLocks noChangeAspect="1"/>
          </p:cNvPicPr>
          <p:nvPr/>
        </p:nvPicPr>
        <p:blipFill>
          <a:blip r:embed="rId2"/>
          <a:stretch>
            <a:fillRect/>
          </a:stretch>
        </p:blipFill>
        <p:spPr>
          <a:xfrm>
            <a:off x="3729037" y="3457575"/>
            <a:ext cx="114300" cy="190500"/>
          </a:xfrm>
          <a:prstGeom prst="rect">
            <a:avLst/>
          </a:prstGeom>
        </p:spPr>
      </p:pic>
      <p:pic>
        <p:nvPicPr>
          <p:cNvPr id="24" name="Picture 23" descr="image.png"/>
          <p:cNvPicPr>
            <a:picLocks noChangeAspect="1"/>
          </p:cNvPicPr>
          <p:nvPr/>
        </p:nvPicPr>
        <p:blipFill>
          <a:blip r:embed="rId2"/>
          <a:stretch>
            <a:fillRect/>
          </a:stretch>
        </p:blipFill>
        <p:spPr>
          <a:xfrm>
            <a:off x="5653087" y="3457575"/>
            <a:ext cx="114300" cy="190500"/>
          </a:xfrm>
          <a:prstGeom prst="rect">
            <a:avLst/>
          </a:prstGeom>
        </p:spPr>
      </p:pic>
      <p:pic>
        <p:nvPicPr>
          <p:cNvPr id="25" name="Picture 24" descr="image.png"/>
          <p:cNvPicPr>
            <a:picLocks noChangeAspect="1"/>
          </p:cNvPicPr>
          <p:nvPr/>
        </p:nvPicPr>
        <p:blipFill>
          <a:blip r:embed="rId2"/>
          <a:stretch>
            <a:fillRect/>
          </a:stretch>
        </p:blipFill>
        <p:spPr>
          <a:xfrm>
            <a:off x="8167687" y="3457575"/>
            <a:ext cx="114300" cy="190500"/>
          </a:xfrm>
          <a:prstGeom prst="rect">
            <a:avLst/>
          </a:prstGeom>
        </p:spPr>
      </p:pic>
      <p:pic>
        <p:nvPicPr>
          <p:cNvPr id="26" name="Picture 25" descr="image.png"/>
          <p:cNvPicPr>
            <a:picLocks noChangeAspect="1"/>
          </p:cNvPicPr>
          <p:nvPr/>
        </p:nvPicPr>
        <p:blipFill>
          <a:blip r:embed="rId2"/>
          <a:stretch>
            <a:fillRect/>
          </a:stretch>
        </p:blipFill>
        <p:spPr>
          <a:xfrm>
            <a:off x="10091737" y="3457575"/>
            <a:ext cx="114300" cy="190500"/>
          </a:xfrm>
          <a:prstGeom prst="rect">
            <a:avLst/>
          </a:prstGeom>
        </p:spPr>
      </p:pic>
      <p:sp>
        <p:nvSpPr>
          <p:cNvPr id="27" name="TextBox 26"/>
          <p:cNvSpPr txBox="1"/>
          <p:nvPr/>
        </p:nvSpPr>
        <p:spPr>
          <a:xfrm>
            <a:off x="381000" y="147637"/>
            <a:ext cx="1524000" cy="314325"/>
          </a:xfrm>
          <a:prstGeom prst="rect">
            <a:avLst/>
          </a:prstGeom>
          <a:noFill/>
        </p:spPr>
        <p:txBody>
          <a:bodyPr wrap="square" lIns="0" rIns="0" tIns="0" bIns="0" anchor="t">
            <a:spAutoFit/>
          </a:bodyPr>
          <a:lstStyle/>
          <a:p>
            <a:pPr algn="l"/>
            <a:r>
              <a:rPr b="1" sz="1650" i="0" u="none">
                <a:solidFill>
                  <a:srgbClr val="FFFFFF"/>
                </a:solidFill>
                <a:latin typeface="Poppins"/>
              </a:rPr>
              <a:t>FLOW CHART</a:t>
            </a:r>
          </a:p>
        </p:txBody>
      </p:sp>
      <p:sp>
        <p:nvSpPr>
          <p:cNvPr id="28" name="TextBox 27"/>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29" name="TextBox 28"/>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30" name="TextBox 29"/>
          <p:cNvSpPr txBox="1"/>
          <p:nvPr/>
        </p:nvSpPr>
        <p:spPr>
          <a:xfrm>
            <a:off x="11315700" y="6605587"/>
            <a:ext cx="781050" cy="142875"/>
          </a:xfrm>
          <a:prstGeom prst="rect">
            <a:avLst/>
          </a:prstGeom>
          <a:noFill/>
        </p:spPr>
        <p:txBody>
          <a:bodyPr wrap="none" lIns="0" rIns="0" tIns="0" bIns="0" anchor="t">
            <a:spAutoFit/>
          </a:bodyPr>
          <a:lstStyle/>
          <a:p>
            <a:pPr algn="l"/>
            <a:r>
              <a:rPr b="0" sz="900" i="0" u="none">
                <a:solidFill>
                  <a:srgbClr val="FFFFFF"/>
                </a:solidFill>
                <a:latin typeface="Inter"/>
              </a:rPr>
              <a:t>SLIDE 07</a:t>
            </a:r>
          </a:p>
        </p:txBody>
      </p:sp>
      <p:sp>
        <p:nvSpPr>
          <p:cNvPr id="31" name="TextBox 30"/>
          <p:cNvSpPr txBox="1"/>
          <p:nvPr/>
        </p:nvSpPr>
        <p:spPr>
          <a:xfrm>
            <a:off x="1090612" y="3471862"/>
            <a:ext cx="523875" cy="161925"/>
          </a:xfrm>
          <a:prstGeom prst="rect">
            <a:avLst/>
          </a:prstGeom>
          <a:noFill/>
        </p:spPr>
        <p:txBody>
          <a:bodyPr wrap="square" lIns="0" rIns="0" tIns="0" bIns="0" anchor="t">
            <a:spAutoFit/>
          </a:bodyPr>
          <a:lstStyle/>
          <a:p>
            <a:pPr algn="l"/>
            <a:r>
              <a:rPr b="1" sz="1050" i="0" u="none">
                <a:solidFill>
                  <a:srgbClr val="FFFFFF"/>
                </a:solidFill>
                <a:latin typeface="Inter"/>
              </a:rPr>
              <a:t>START</a:t>
            </a:r>
          </a:p>
        </p:txBody>
      </p:sp>
      <p:sp>
        <p:nvSpPr>
          <p:cNvPr id="32" name="TextBox 31"/>
          <p:cNvSpPr txBox="1"/>
          <p:nvPr/>
        </p:nvSpPr>
        <p:spPr>
          <a:xfrm>
            <a:off x="2152650" y="3352800"/>
            <a:ext cx="1438275" cy="400050"/>
          </a:xfrm>
          <a:prstGeom prst="rect">
            <a:avLst/>
          </a:prstGeom>
          <a:noFill/>
        </p:spPr>
        <p:txBody>
          <a:bodyPr wrap="square" lIns="0" rIns="0" tIns="0" bIns="0" anchor="t">
            <a:spAutoFit/>
          </a:bodyPr>
          <a:lstStyle/>
          <a:p>
            <a:pPr algn="ctr"/>
            <a:r>
              <a:rPr b="1" sz="1050" i="0" u="none">
                <a:solidFill>
                  <a:srgbClr val="800000"/>
                </a:solidFill>
                <a:latin typeface="Inter"/>
              </a:rPr>
              <a:t>Init Sensors</a:t>
            </a:r>
            <a:r>
              <a:t>
</a:t>
            </a:r>
            <a:r>
              <a:rPr b="1" sz="900" i="0" u="none">
                <a:solidFill>
                  <a:srgbClr val="64748B"/>
                </a:solidFill>
                <a:latin typeface="Inter"/>
              </a:rPr>
              <a:t>Calibrate Probes</a:t>
            </a:r>
          </a:p>
        </p:txBody>
      </p:sp>
      <p:sp>
        <p:nvSpPr>
          <p:cNvPr id="33" name="TextBox 32"/>
          <p:cNvSpPr txBox="1"/>
          <p:nvPr/>
        </p:nvSpPr>
        <p:spPr>
          <a:xfrm>
            <a:off x="3969543" y="3352800"/>
            <a:ext cx="1557337" cy="400050"/>
          </a:xfrm>
          <a:prstGeom prst="rect">
            <a:avLst/>
          </a:prstGeom>
          <a:noFill/>
        </p:spPr>
        <p:txBody>
          <a:bodyPr wrap="square" lIns="0" rIns="0" tIns="0" bIns="0" anchor="t">
            <a:spAutoFit/>
          </a:bodyPr>
          <a:lstStyle/>
          <a:p>
            <a:pPr algn="ctr"/>
            <a:r>
              <a:rPr b="1" sz="1050" i="0" u="none">
                <a:solidFill>
                  <a:srgbClr val="800000"/>
                </a:solidFill>
                <a:latin typeface="Inter"/>
              </a:rPr>
              <a:t>Read Signals</a:t>
            </a:r>
            <a:r>
              <a:t>
</a:t>
            </a:r>
            <a:r>
              <a:rPr b="1" sz="900" i="0" u="none">
                <a:solidFill>
                  <a:srgbClr val="64748B"/>
                </a:solidFill>
                <a:latin typeface="Inter"/>
              </a:rPr>
              <a:t>pH, TDS, NTU, Temp</a:t>
            </a:r>
          </a:p>
        </p:txBody>
      </p:sp>
      <p:sp>
        <p:nvSpPr>
          <p:cNvPr id="34" name="TextBox 33"/>
          <p:cNvSpPr txBox="1"/>
          <p:nvPr/>
        </p:nvSpPr>
        <p:spPr>
          <a:xfrm>
            <a:off x="5819775" y="3438525"/>
            <a:ext cx="2295525" cy="228600"/>
          </a:xfrm>
          <a:prstGeom prst="rect">
            <a:avLst/>
          </a:prstGeom>
          <a:noFill/>
        </p:spPr>
        <p:txBody>
          <a:bodyPr wrap="square" lIns="0" rIns="0" tIns="0" bIns="0" anchor="t">
            <a:spAutoFit/>
          </a:bodyPr>
          <a:lstStyle/>
          <a:p>
            <a:pPr algn="ctr"/>
            <a:r>
              <a:rPr b="1" sz="1050" i="0" u="none">
                <a:solidFill>
                  <a:srgbClr val="800000"/>
                </a:solidFill>
                <a:latin typeface="Inter"/>
              </a:rPr>
              <a:t>Compare WHO Thresholds</a:t>
            </a:r>
          </a:p>
        </p:txBody>
      </p:sp>
      <p:sp>
        <p:nvSpPr>
          <p:cNvPr id="35" name="TextBox 34"/>
          <p:cNvSpPr txBox="1"/>
          <p:nvPr/>
        </p:nvSpPr>
        <p:spPr>
          <a:xfrm>
            <a:off x="8408193" y="3352800"/>
            <a:ext cx="1557337" cy="400050"/>
          </a:xfrm>
          <a:prstGeom prst="rect">
            <a:avLst/>
          </a:prstGeom>
          <a:noFill/>
        </p:spPr>
        <p:txBody>
          <a:bodyPr wrap="square" lIns="0" rIns="0" tIns="0" bIns="0" anchor="t">
            <a:spAutoFit/>
          </a:bodyPr>
          <a:lstStyle/>
          <a:p>
            <a:pPr algn="ctr"/>
            <a:r>
              <a:rPr b="1" sz="1050" i="0" u="none">
                <a:solidFill>
                  <a:srgbClr val="800000"/>
                </a:solidFill>
                <a:latin typeface="Inter"/>
              </a:rPr>
              <a:t>Upload Cloud</a:t>
            </a:r>
            <a:r>
              <a:t>
</a:t>
            </a:r>
            <a:r>
              <a:rPr b="1" sz="900" i="0" u="none">
                <a:solidFill>
                  <a:srgbClr val="64748B"/>
                </a:solidFill>
                <a:latin typeface="Inter"/>
              </a:rPr>
              <a:t>ThingSpeak MQTT</a:t>
            </a:r>
          </a:p>
        </p:txBody>
      </p:sp>
      <p:sp>
        <p:nvSpPr>
          <p:cNvPr id="36" name="TextBox 35"/>
          <p:cNvSpPr txBox="1"/>
          <p:nvPr/>
        </p:nvSpPr>
        <p:spPr>
          <a:xfrm>
            <a:off x="10587037" y="3471862"/>
            <a:ext cx="609600" cy="161925"/>
          </a:xfrm>
          <a:prstGeom prst="rect">
            <a:avLst/>
          </a:prstGeom>
          <a:noFill/>
        </p:spPr>
        <p:txBody>
          <a:bodyPr wrap="square" lIns="0" rIns="0" tIns="0" bIns="0" anchor="t">
            <a:spAutoFit/>
          </a:bodyPr>
          <a:lstStyle/>
          <a:p>
            <a:pPr algn="l"/>
            <a:r>
              <a:rPr b="1" sz="1050" i="0" u="none">
                <a:solidFill>
                  <a:srgbClr val="FFFFFF"/>
                </a:solidFill>
                <a:latin typeface="Inter"/>
              </a:rPr>
              <a:t>REPEAT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28775"/>
            <a:ext cx="11277600" cy="876300"/>
          </a:xfrm>
          <a:prstGeom prst="roundRect">
            <a:avLst>
              <a:gd name="adj" fmla="val 86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657475"/>
            <a:ext cx="11277600" cy="876300"/>
          </a:xfrm>
          <a:prstGeom prst="roundRect">
            <a:avLst>
              <a:gd name="adj" fmla="val 86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686175"/>
            <a:ext cx="11277600" cy="76200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4600575"/>
            <a:ext cx="11277600" cy="876300"/>
          </a:xfrm>
          <a:prstGeom prst="roundRect">
            <a:avLst>
              <a:gd name="adj" fmla="val 86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3425" y="1828800"/>
            <a:ext cx="1524000" cy="476250"/>
          </a:xfrm>
          <a:prstGeom prst="roundRect">
            <a:avLst>
              <a:gd name="adj" fmla="val 12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955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287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28775"/>
            <a:ext cx="47625" cy="8763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725275" y="1628775"/>
            <a:ext cx="9525" cy="8763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3425" y="2857500"/>
            <a:ext cx="1524000" cy="476250"/>
          </a:xfrm>
          <a:prstGeom prst="roundRect">
            <a:avLst>
              <a:gd name="adj" fmla="val 12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5242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6574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57475"/>
            <a:ext cx="47625" cy="8763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25275" y="2657475"/>
            <a:ext cx="9525" cy="8763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3425" y="3910012"/>
            <a:ext cx="1524000" cy="314325"/>
          </a:xfrm>
          <a:prstGeom prst="roundRect">
            <a:avLst>
              <a:gd name="adj" fmla="val 18181"/>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4386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6861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686175"/>
            <a:ext cx="47625" cy="7620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725275" y="3686175"/>
            <a:ext cx="9525" cy="76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3425" y="4800600"/>
            <a:ext cx="1618357" cy="476250"/>
          </a:xfrm>
          <a:prstGeom prst="roundRect">
            <a:avLst>
              <a:gd name="adj" fmla="val 12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4673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6005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600575"/>
            <a:ext cx="47625" cy="8763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725275" y="4600575"/>
            <a:ext cx="9525" cy="8763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1000" y="147637"/>
            <a:ext cx="2662237" cy="314325"/>
          </a:xfrm>
          <a:prstGeom prst="rect">
            <a:avLst/>
          </a:prstGeom>
          <a:noFill/>
        </p:spPr>
        <p:txBody>
          <a:bodyPr wrap="square" lIns="0" rIns="0" tIns="0" bIns="0" anchor="t">
            <a:spAutoFit/>
          </a:bodyPr>
          <a:lstStyle/>
          <a:p>
            <a:pPr algn="l"/>
            <a:r>
              <a:rPr b="1" sz="1650" i="0" u="none">
                <a:solidFill>
                  <a:srgbClr val="FFFFFF"/>
                </a:solidFill>
                <a:latin typeface="Poppins"/>
              </a:rPr>
              <a:t>SYSTEM ARCHITECTURE</a:t>
            </a:r>
          </a:p>
        </p:txBody>
      </p:sp>
      <p:sp>
        <p:nvSpPr>
          <p:cNvPr id="29" name="TextBox 2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30" name="TextBox 2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31" name="TextBox 30"/>
          <p:cNvSpPr txBox="1"/>
          <p:nvPr/>
        </p:nvSpPr>
        <p:spPr>
          <a:xfrm>
            <a:off x="11306175" y="6605587"/>
            <a:ext cx="790575" cy="142875"/>
          </a:xfrm>
          <a:prstGeom prst="rect">
            <a:avLst/>
          </a:prstGeom>
          <a:noFill/>
        </p:spPr>
        <p:txBody>
          <a:bodyPr wrap="none" lIns="0" rIns="0" tIns="0" bIns="0" anchor="t">
            <a:spAutoFit/>
          </a:bodyPr>
          <a:lstStyle/>
          <a:p>
            <a:pPr algn="l"/>
            <a:r>
              <a:rPr b="0" sz="900" i="0" u="none">
                <a:solidFill>
                  <a:srgbClr val="FFFFFF"/>
                </a:solidFill>
                <a:latin typeface="Inter"/>
              </a:rPr>
              <a:t>SLIDE 08</a:t>
            </a:r>
          </a:p>
        </p:txBody>
      </p:sp>
      <p:sp>
        <p:nvSpPr>
          <p:cNvPr id="32" name="TextBox 31"/>
          <p:cNvSpPr txBox="1"/>
          <p:nvPr/>
        </p:nvSpPr>
        <p:spPr>
          <a:xfrm>
            <a:off x="695325" y="1905000"/>
            <a:ext cx="1600200" cy="323850"/>
          </a:xfrm>
          <a:prstGeom prst="rect">
            <a:avLst/>
          </a:prstGeom>
          <a:noFill/>
        </p:spPr>
        <p:txBody>
          <a:bodyPr wrap="square" lIns="0" rIns="0" tIns="0" bIns="0" anchor="t">
            <a:spAutoFit/>
          </a:bodyPr>
          <a:lstStyle/>
          <a:p>
            <a:pPr algn="ctr"/>
            <a:r>
              <a:rPr b="1" sz="1050" i="0" u="none">
                <a:solidFill>
                  <a:srgbClr val="FFFFFF"/>
                </a:solidFill>
                <a:latin typeface="Inter"/>
              </a:rPr>
              <a:t>PERCEPTION LAYER</a:t>
            </a:r>
          </a:p>
        </p:txBody>
      </p:sp>
      <p:sp>
        <p:nvSpPr>
          <p:cNvPr id="33" name="TextBox 32"/>
          <p:cNvSpPr txBox="1"/>
          <p:nvPr/>
        </p:nvSpPr>
        <p:spPr>
          <a:xfrm>
            <a:off x="2447925" y="1885950"/>
            <a:ext cx="9144000" cy="361950"/>
          </a:xfrm>
          <a:prstGeom prst="rect">
            <a:avLst/>
          </a:prstGeom>
          <a:noFill/>
        </p:spPr>
        <p:txBody>
          <a:bodyPr wrap="square" lIns="0" rIns="0" tIns="0" bIns="0" anchor="t">
            <a:spAutoFit/>
          </a:bodyPr>
          <a:lstStyle/>
          <a:p>
            <a:pPr algn="l"/>
            <a:r>
              <a:rPr b="0" sz="1125" i="0" u="none">
                <a:solidFill>
                  <a:srgbClr val="334155"/>
                </a:solidFill>
                <a:latin typeface="Inter"/>
              </a:rPr>
              <a:t>Analog electrochemical pH electrodes, optical scattering turbidity sensors, electrical conductivity TDS rods, and digital thermal probes submersed in water body.</a:t>
            </a:r>
          </a:p>
        </p:txBody>
      </p:sp>
      <p:sp>
        <p:nvSpPr>
          <p:cNvPr id="34" name="TextBox 33"/>
          <p:cNvSpPr txBox="1"/>
          <p:nvPr/>
        </p:nvSpPr>
        <p:spPr>
          <a:xfrm>
            <a:off x="695325" y="2933700"/>
            <a:ext cx="1600200" cy="323850"/>
          </a:xfrm>
          <a:prstGeom prst="rect">
            <a:avLst/>
          </a:prstGeom>
          <a:noFill/>
        </p:spPr>
        <p:txBody>
          <a:bodyPr wrap="square" lIns="0" rIns="0" tIns="0" bIns="0" anchor="t">
            <a:spAutoFit/>
          </a:bodyPr>
          <a:lstStyle/>
          <a:p>
            <a:pPr algn="ctr"/>
            <a:r>
              <a:rPr b="1" sz="1050" i="0" u="none">
                <a:solidFill>
                  <a:srgbClr val="FFFFFF"/>
                </a:solidFill>
                <a:latin typeface="Inter"/>
              </a:rPr>
              <a:t>PROCESSING LAYER</a:t>
            </a:r>
          </a:p>
        </p:txBody>
      </p:sp>
      <p:sp>
        <p:nvSpPr>
          <p:cNvPr id="35" name="TextBox 34"/>
          <p:cNvSpPr txBox="1"/>
          <p:nvPr/>
        </p:nvSpPr>
        <p:spPr>
          <a:xfrm>
            <a:off x="2447925" y="2914650"/>
            <a:ext cx="9144000" cy="361950"/>
          </a:xfrm>
          <a:prstGeom prst="rect">
            <a:avLst/>
          </a:prstGeom>
          <a:noFill/>
        </p:spPr>
        <p:txBody>
          <a:bodyPr wrap="square" lIns="0" rIns="0" tIns="0" bIns="0" anchor="t">
            <a:spAutoFit/>
          </a:bodyPr>
          <a:lstStyle/>
          <a:p>
            <a:pPr algn="l"/>
            <a:r>
              <a:rPr b="0" sz="1125" i="0" u="none">
                <a:solidFill>
                  <a:srgbClr val="334155"/>
                </a:solidFill>
                <a:latin typeface="Inter"/>
              </a:rPr>
              <a:t>NodeMCU micro-controller processes raw signal voltages, applies noise filtering algorithms, and calculates real-time chemical concentration parameters.</a:t>
            </a:r>
          </a:p>
        </p:txBody>
      </p:sp>
      <p:sp>
        <p:nvSpPr>
          <p:cNvPr id="36" name="TextBox 35"/>
          <p:cNvSpPr txBox="1"/>
          <p:nvPr/>
        </p:nvSpPr>
        <p:spPr>
          <a:xfrm>
            <a:off x="695325" y="3986212"/>
            <a:ext cx="1600200" cy="161925"/>
          </a:xfrm>
          <a:prstGeom prst="rect">
            <a:avLst/>
          </a:prstGeom>
          <a:noFill/>
        </p:spPr>
        <p:txBody>
          <a:bodyPr wrap="square" lIns="0" rIns="0" tIns="0" bIns="0" anchor="t">
            <a:spAutoFit/>
          </a:bodyPr>
          <a:lstStyle/>
          <a:p>
            <a:pPr algn="ctr"/>
            <a:r>
              <a:rPr b="1" sz="1050" i="0" u="none">
                <a:solidFill>
                  <a:srgbClr val="FFFFFF"/>
                </a:solidFill>
                <a:latin typeface="Inter"/>
              </a:rPr>
              <a:t>NETWORK LAYER</a:t>
            </a:r>
          </a:p>
        </p:txBody>
      </p:sp>
      <p:sp>
        <p:nvSpPr>
          <p:cNvPr id="37" name="TextBox 36"/>
          <p:cNvSpPr txBox="1"/>
          <p:nvPr/>
        </p:nvSpPr>
        <p:spPr>
          <a:xfrm>
            <a:off x="2447925" y="3886200"/>
            <a:ext cx="9144000" cy="361950"/>
          </a:xfrm>
          <a:prstGeom prst="rect">
            <a:avLst/>
          </a:prstGeom>
          <a:noFill/>
        </p:spPr>
        <p:txBody>
          <a:bodyPr wrap="square" lIns="0" rIns="0" tIns="0" bIns="0" anchor="t">
            <a:spAutoFit/>
          </a:bodyPr>
          <a:lstStyle/>
          <a:p>
            <a:pPr algn="l"/>
            <a:r>
              <a:rPr b="0" sz="1125" i="0" u="none">
                <a:solidFill>
                  <a:srgbClr val="334155"/>
                </a:solidFill>
                <a:latin typeface="Inter"/>
              </a:rPr>
              <a:t>Integrated Wi-Fi protocol (IEEE 802.11 b/g/n) transmits formatted JSON telemetry payloads securely over HTTP REST / MQTT broker services.</a:t>
            </a:r>
          </a:p>
        </p:txBody>
      </p:sp>
      <p:sp>
        <p:nvSpPr>
          <p:cNvPr id="38" name="TextBox 37"/>
          <p:cNvSpPr txBox="1"/>
          <p:nvPr/>
        </p:nvSpPr>
        <p:spPr>
          <a:xfrm>
            <a:off x="683530" y="4876800"/>
            <a:ext cx="1718146" cy="323850"/>
          </a:xfrm>
          <a:prstGeom prst="rect">
            <a:avLst/>
          </a:prstGeom>
          <a:noFill/>
        </p:spPr>
        <p:txBody>
          <a:bodyPr wrap="square" lIns="0" rIns="0" tIns="0" bIns="0" anchor="t">
            <a:spAutoFit/>
          </a:bodyPr>
          <a:lstStyle/>
          <a:p>
            <a:pPr algn="ctr"/>
            <a:r>
              <a:rPr b="1" sz="1050" i="0" u="none">
                <a:solidFill>
                  <a:srgbClr val="FFFFFF"/>
                </a:solidFill>
                <a:latin typeface="Inter"/>
              </a:rPr>
              <a:t>APPLICATION LAYER</a:t>
            </a:r>
          </a:p>
        </p:txBody>
      </p:sp>
      <p:sp>
        <p:nvSpPr>
          <p:cNvPr id="39" name="TextBox 38"/>
          <p:cNvSpPr txBox="1"/>
          <p:nvPr/>
        </p:nvSpPr>
        <p:spPr>
          <a:xfrm>
            <a:off x="2542282" y="4857750"/>
            <a:ext cx="9049642" cy="361950"/>
          </a:xfrm>
          <a:prstGeom prst="rect">
            <a:avLst/>
          </a:prstGeom>
          <a:noFill/>
        </p:spPr>
        <p:txBody>
          <a:bodyPr wrap="square" lIns="0" rIns="0" tIns="0" bIns="0" anchor="t">
            <a:spAutoFit/>
          </a:bodyPr>
          <a:lstStyle/>
          <a:p>
            <a:pPr algn="l"/>
            <a:r>
              <a:rPr b="0" sz="1125" i="0" u="none">
                <a:solidFill>
                  <a:srgbClr val="334155"/>
                </a:solidFill>
                <a:latin typeface="Inter"/>
              </a:rPr>
              <a:t>ThingSpeak cloud database renders interactive time-series plots while Blynk app alerts users immediately when purity metrics degrade.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486025"/>
            <a:ext cx="5543550" cy="971550"/>
          </a:xfrm>
          <a:prstGeom prst="roundRect">
            <a:avLst>
              <a:gd name="adj" fmla="val 784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486025"/>
            <a:ext cx="5543550" cy="971550"/>
          </a:xfrm>
          <a:prstGeom prst="roundRect">
            <a:avLst>
              <a:gd name="adj" fmla="val 784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648075"/>
            <a:ext cx="5543550" cy="971550"/>
          </a:xfrm>
          <a:prstGeom prst="roundRect">
            <a:avLst>
              <a:gd name="adj" fmla="val 784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1250" y="3648075"/>
            <a:ext cx="5543550" cy="971550"/>
          </a:xfrm>
          <a:prstGeom prst="roundRect">
            <a:avLst>
              <a:gd name="adj" fmla="val 784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8602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86025"/>
            <a:ext cx="47625" cy="9715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91225" y="2486025"/>
            <a:ext cx="9525" cy="971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125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1250" y="248602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1250" y="2486025"/>
            <a:ext cx="47625" cy="9715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25275" y="2486025"/>
            <a:ext cx="9525" cy="971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61010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648075"/>
            <a:ext cx="47625" cy="9715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91225" y="3648075"/>
            <a:ext cx="9525" cy="971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1250" y="461010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125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1250" y="3648075"/>
            <a:ext cx="47625" cy="9715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25275" y="3648075"/>
            <a:ext cx="9525" cy="9715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1000" y="147637"/>
            <a:ext cx="4443412" cy="314325"/>
          </a:xfrm>
          <a:prstGeom prst="rect">
            <a:avLst/>
          </a:prstGeom>
          <a:noFill/>
        </p:spPr>
        <p:txBody>
          <a:bodyPr wrap="square" lIns="0" rIns="0" tIns="0" bIns="0" anchor="t">
            <a:spAutoFit/>
          </a:bodyPr>
          <a:lstStyle/>
          <a:p>
            <a:pPr algn="l"/>
            <a:r>
              <a:rPr b="1" sz="1650" i="0" u="none">
                <a:solidFill>
                  <a:srgbClr val="FFFFFF"/>
                </a:solidFill>
                <a:latin typeface="Poppins"/>
              </a:rPr>
              <a:t>HARDWARE COMPONENTS DESCRIPTION</a:t>
            </a:r>
          </a:p>
        </p:txBody>
      </p:sp>
      <p:sp>
        <p:nvSpPr>
          <p:cNvPr id="25" name="TextBox 24"/>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26" name="TextBox 25"/>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27" name="TextBox 26"/>
          <p:cNvSpPr txBox="1"/>
          <p:nvPr/>
        </p:nvSpPr>
        <p:spPr>
          <a:xfrm>
            <a:off x="11306175" y="6605587"/>
            <a:ext cx="790575" cy="142875"/>
          </a:xfrm>
          <a:prstGeom prst="rect">
            <a:avLst/>
          </a:prstGeom>
          <a:noFill/>
        </p:spPr>
        <p:txBody>
          <a:bodyPr wrap="none" lIns="0" rIns="0" tIns="0" bIns="0" anchor="t">
            <a:spAutoFit/>
          </a:bodyPr>
          <a:lstStyle/>
          <a:p>
            <a:pPr algn="l"/>
            <a:r>
              <a:rPr b="0" sz="900" i="0" u="none">
                <a:solidFill>
                  <a:srgbClr val="FFFFFF"/>
                </a:solidFill>
                <a:latin typeface="Inter"/>
              </a:rPr>
              <a:t>SLIDE 09</a:t>
            </a:r>
          </a:p>
        </p:txBody>
      </p:sp>
      <p:sp>
        <p:nvSpPr>
          <p:cNvPr id="28" name="TextBox 27"/>
          <p:cNvSpPr txBox="1"/>
          <p:nvPr/>
        </p:nvSpPr>
        <p:spPr>
          <a:xfrm>
            <a:off x="733425" y="2686050"/>
            <a:ext cx="6600825" cy="190500"/>
          </a:xfrm>
          <a:prstGeom prst="rect">
            <a:avLst/>
          </a:prstGeom>
          <a:noFill/>
        </p:spPr>
        <p:txBody>
          <a:bodyPr wrap="none" lIns="0" rIns="0" tIns="0" bIns="0" anchor="t">
            <a:spAutoFit/>
          </a:bodyPr>
          <a:lstStyle/>
          <a:p>
            <a:pPr algn="l"/>
            <a:r>
              <a:rPr b="1" sz="1200" i="0" u="none">
                <a:solidFill>
                  <a:srgbClr val="800000"/>
                </a:solidFill>
                <a:latin typeface="Inter"/>
              </a:rPr>
              <a:t>ESP32 Development Board</a:t>
            </a:r>
          </a:p>
        </p:txBody>
      </p:sp>
      <p:sp>
        <p:nvSpPr>
          <p:cNvPr id="29" name="TextBox 28"/>
          <p:cNvSpPr txBox="1"/>
          <p:nvPr/>
        </p:nvSpPr>
        <p:spPr>
          <a:xfrm>
            <a:off x="733425" y="2933700"/>
            <a:ext cx="5124450" cy="323850"/>
          </a:xfrm>
          <a:prstGeom prst="rect">
            <a:avLst/>
          </a:prstGeom>
          <a:noFill/>
        </p:spPr>
        <p:txBody>
          <a:bodyPr wrap="square" lIns="0" rIns="0" tIns="0" bIns="0" anchor="t">
            <a:spAutoFit/>
          </a:bodyPr>
          <a:lstStyle/>
          <a:p>
            <a:pPr algn="l"/>
            <a:r>
              <a:rPr b="0" sz="1050" i="0" u="none">
                <a:solidFill>
                  <a:srgbClr val="475569"/>
                </a:solidFill>
                <a:latin typeface="Inter"/>
              </a:rPr>
              <a:t>High-performance Wi-Fi &amp; Bluetooth-enabled 32-bit dual-core microcontroller for low-power IoT telemetry processing.</a:t>
            </a:r>
          </a:p>
        </p:txBody>
      </p:sp>
      <p:sp>
        <p:nvSpPr>
          <p:cNvPr id="30" name="TextBox 29"/>
          <p:cNvSpPr txBox="1"/>
          <p:nvPr/>
        </p:nvSpPr>
        <p:spPr>
          <a:xfrm>
            <a:off x="6467475" y="2686050"/>
            <a:ext cx="5724525" cy="190500"/>
          </a:xfrm>
          <a:prstGeom prst="rect">
            <a:avLst/>
          </a:prstGeom>
          <a:noFill/>
        </p:spPr>
        <p:txBody>
          <a:bodyPr wrap="none" lIns="0" rIns="0" tIns="0" bIns="0" anchor="t">
            <a:spAutoFit/>
          </a:bodyPr>
          <a:lstStyle/>
          <a:p>
            <a:pPr algn="l"/>
            <a:r>
              <a:rPr b="1" sz="1200" i="0" u="none">
                <a:solidFill>
                  <a:srgbClr val="800000"/>
                </a:solidFill>
                <a:latin typeface="Inter"/>
              </a:rPr>
              <a:t>Analog TDS Sensor with Probe</a:t>
            </a:r>
          </a:p>
        </p:txBody>
      </p:sp>
      <p:sp>
        <p:nvSpPr>
          <p:cNvPr id="31" name="TextBox 30"/>
          <p:cNvSpPr txBox="1"/>
          <p:nvPr/>
        </p:nvSpPr>
        <p:spPr>
          <a:xfrm>
            <a:off x="6467475" y="2933700"/>
            <a:ext cx="5124450" cy="323850"/>
          </a:xfrm>
          <a:prstGeom prst="rect">
            <a:avLst/>
          </a:prstGeom>
          <a:noFill/>
        </p:spPr>
        <p:txBody>
          <a:bodyPr wrap="square" lIns="0" rIns="0" tIns="0" bIns="0" anchor="t">
            <a:spAutoFit/>
          </a:bodyPr>
          <a:lstStyle/>
          <a:p>
            <a:pPr algn="l"/>
            <a:r>
              <a:rPr b="0" sz="1050" i="0" u="none">
                <a:solidFill>
                  <a:srgbClr val="475569"/>
                </a:solidFill>
                <a:latin typeface="Inter"/>
              </a:rPr>
              <a:t>Measures Total Dissolved Solids in PPM by evaluating electrical conductivity in drinking water samples.</a:t>
            </a:r>
          </a:p>
        </p:txBody>
      </p:sp>
      <p:sp>
        <p:nvSpPr>
          <p:cNvPr id="32" name="TextBox 31"/>
          <p:cNvSpPr txBox="1"/>
          <p:nvPr/>
        </p:nvSpPr>
        <p:spPr>
          <a:xfrm>
            <a:off x="733425" y="3848100"/>
            <a:ext cx="6600825" cy="190500"/>
          </a:xfrm>
          <a:prstGeom prst="rect">
            <a:avLst/>
          </a:prstGeom>
          <a:noFill/>
        </p:spPr>
        <p:txBody>
          <a:bodyPr wrap="none" lIns="0" rIns="0" tIns="0" bIns="0" anchor="t">
            <a:spAutoFit/>
          </a:bodyPr>
          <a:lstStyle/>
          <a:p>
            <a:pPr algn="l"/>
            <a:r>
              <a:rPr b="1" sz="1200" i="0" u="none">
                <a:solidFill>
                  <a:srgbClr val="800000"/>
                </a:solidFill>
                <a:latin typeface="Inter"/>
              </a:rPr>
              <a:t>5V Power Source</a:t>
            </a:r>
          </a:p>
        </p:txBody>
      </p:sp>
      <p:sp>
        <p:nvSpPr>
          <p:cNvPr id="33" name="TextBox 32"/>
          <p:cNvSpPr txBox="1"/>
          <p:nvPr/>
        </p:nvSpPr>
        <p:spPr>
          <a:xfrm>
            <a:off x="733425" y="4095750"/>
            <a:ext cx="5124450" cy="323850"/>
          </a:xfrm>
          <a:prstGeom prst="rect">
            <a:avLst/>
          </a:prstGeom>
          <a:noFill/>
        </p:spPr>
        <p:txBody>
          <a:bodyPr wrap="square" lIns="0" rIns="0" tIns="0" bIns="0" anchor="t">
            <a:spAutoFit/>
          </a:bodyPr>
          <a:lstStyle/>
          <a:p>
            <a:pPr algn="l"/>
            <a:r>
              <a:rPr b="0" sz="1050" i="0" u="none">
                <a:solidFill>
                  <a:srgbClr val="475569"/>
                </a:solidFill>
                <a:latin typeface="Inter"/>
              </a:rPr>
              <a:t>Compact USB power bank or 5V DC adapter enabling high portability for on-field testing.</a:t>
            </a:r>
          </a:p>
        </p:txBody>
      </p:sp>
      <p:sp>
        <p:nvSpPr>
          <p:cNvPr id="34" name="TextBox 33"/>
          <p:cNvSpPr txBox="1"/>
          <p:nvPr/>
        </p:nvSpPr>
        <p:spPr>
          <a:xfrm>
            <a:off x="6467475" y="3848100"/>
            <a:ext cx="5724525" cy="190500"/>
          </a:xfrm>
          <a:prstGeom prst="rect">
            <a:avLst/>
          </a:prstGeom>
          <a:noFill/>
        </p:spPr>
        <p:txBody>
          <a:bodyPr wrap="none" lIns="0" rIns="0" tIns="0" bIns="0" anchor="t">
            <a:spAutoFit/>
          </a:bodyPr>
          <a:lstStyle/>
          <a:p>
            <a:pPr algn="l"/>
            <a:r>
              <a:rPr b="1" sz="1200" i="0" u="none">
                <a:solidFill>
                  <a:srgbClr val="800000"/>
                </a:solidFill>
                <a:latin typeface="Inter"/>
              </a:rPr>
              <a:t>OLED Display &amp; Jumper Wires</a:t>
            </a:r>
          </a:p>
        </p:txBody>
      </p:sp>
      <p:sp>
        <p:nvSpPr>
          <p:cNvPr id="35" name="TextBox 34"/>
          <p:cNvSpPr txBox="1"/>
          <p:nvPr/>
        </p:nvSpPr>
        <p:spPr>
          <a:xfrm>
            <a:off x="6467475" y="4095750"/>
            <a:ext cx="5124450" cy="323850"/>
          </a:xfrm>
          <a:prstGeom prst="rect">
            <a:avLst/>
          </a:prstGeom>
          <a:noFill/>
        </p:spPr>
        <p:txBody>
          <a:bodyPr wrap="square" lIns="0" rIns="0" tIns="0" bIns="0" anchor="t">
            <a:spAutoFit/>
          </a:bodyPr>
          <a:lstStyle/>
          <a:p>
            <a:pPr algn="l"/>
            <a:r>
              <a:rPr b="0" sz="1050" i="0" u="none">
                <a:solidFill>
                  <a:srgbClr val="475569"/>
                </a:solidFill>
                <a:latin typeface="Inter"/>
              </a:rPr>
              <a:t>Optional OLED readout screen and jumper connections for rapid prototyping and live standalone metric visualization.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804987"/>
            <a:ext cx="11277600" cy="1038225"/>
          </a:xfrm>
          <a:prstGeom prst="roundRect">
            <a:avLst>
              <a:gd name="adj" fmla="val 733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3033712"/>
            <a:ext cx="11277600" cy="1038225"/>
          </a:xfrm>
          <a:prstGeom prst="roundRect">
            <a:avLst>
              <a:gd name="adj" fmla="val 733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4262437"/>
            <a:ext cx="11277600" cy="1038225"/>
          </a:xfrm>
          <a:prstGeom prst="roundRect">
            <a:avLst>
              <a:gd name="adj" fmla="val 733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83368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0498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04987"/>
            <a:ext cx="47625" cy="10382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25275" y="1804987"/>
            <a:ext cx="9525" cy="10382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062412"/>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033712"/>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33712"/>
            <a:ext cx="47625" cy="10382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25275" y="3033712"/>
            <a:ext cx="9525" cy="10382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529113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262437"/>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262437"/>
            <a:ext cx="47625" cy="10382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725275" y="4262437"/>
            <a:ext cx="9525" cy="10382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1000" y="147637"/>
            <a:ext cx="2281237" cy="314325"/>
          </a:xfrm>
          <a:prstGeom prst="rect">
            <a:avLst/>
          </a:prstGeom>
          <a:noFill/>
        </p:spPr>
        <p:txBody>
          <a:bodyPr wrap="square" lIns="0" rIns="0" tIns="0" bIns="0" anchor="t">
            <a:spAutoFit/>
          </a:bodyPr>
          <a:lstStyle/>
          <a:p>
            <a:pPr algn="l"/>
            <a:r>
              <a:rPr b="1" sz="1650" i="0" u="none">
                <a:solidFill>
                  <a:srgbClr val="FFFFFF"/>
                </a:solidFill>
                <a:latin typeface="Poppins"/>
              </a:rPr>
              <a:t>WORKING PRINCIPLE</a:t>
            </a:r>
          </a:p>
        </p:txBody>
      </p:sp>
      <p:sp>
        <p:nvSpPr>
          <p:cNvPr id="20" name="TextBox 19"/>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21" name="TextBox 20"/>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22" name="TextBox 21"/>
          <p:cNvSpPr txBox="1"/>
          <p:nvPr/>
        </p:nvSpPr>
        <p:spPr>
          <a:xfrm>
            <a:off x="11334750" y="6605587"/>
            <a:ext cx="762000" cy="142875"/>
          </a:xfrm>
          <a:prstGeom prst="rect">
            <a:avLst/>
          </a:prstGeom>
          <a:noFill/>
        </p:spPr>
        <p:txBody>
          <a:bodyPr wrap="none" lIns="0" rIns="0" tIns="0" bIns="0" anchor="t">
            <a:spAutoFit/>
          </a:bodyPr>
          <a:lstStyle/>
          <a:p>
            <a:pPr algn="l"/>
            <a:r>
              <a:rPr b="0" sz="900" i="0" u="none">
                <a:solidFill>
                  <a:srgbClr val="FFFFFF"/>
                </a:solidFill>
                <a:latin typeface="Inter"/>
              </a:rPr>
              <a:t>SLIDE 10</a:t>
            </a:r>
          </a:p>
        </p:txBody>
      </p:sp>
      <p:sp>
        <p:nvSpPr>
          <p:cNvPr id="23" name="TextBox 22"/>
          <p:cNvSpPr txBox="1"/>
          <p:nvPr/>
        </p:nvSpPr>
        <p:spPr>
          <a:xfrm>
            <a:off x="733425" y="2005012"/>
            <a:ext cx="11458575" cy="200025"/>
          </a:xfrm>
          <a:prstGeom prst="rect">
            <a:avLst/>
          </a:prstGeom>
          <a:noFill/>
        </p:spPr>
        <p:txBody>
          <a:bodyPr wrap="none" lIns="0" rIns="0" tIns="0" bIns="0" anchor="t">
            <a:spAutoFit/>
          </a:bodyPr>
          <a:lstStyle/>
          <a:p>
            <a:pPr algn="l"/>
            <a:r>
              <a:rPr b="1" sz="1350" i="0" u="none">
                <a:solidFill>
                  <a:srgbClr val="800000"/>
                </a:solidFill>
                <a:latin typeface="Inter"/>
              </a:rPr>
              <a:t>1. Continuous Data Acquisition</a:t>
            </a:r>
          </a:p>
        </p:txBody>
      </p:sp>
      <p:sp>
        <p:nvSpPr>
          <p:cNvPr id="24" name="TextBox 23"/>
          <p:cNvSpPr txBox="1"/>
          <p:nvPr/>
        </p:nvSpPr>
        <p:spPr>
          <a:xfrm>
            <a:off x="733425" y="2281237"/>
            <a:ext cx="10858500" cy="361950"/>
          </a:xfrm>
          <a:prstGeom prst="rect">
            <a:avLst/>
          </a:prstGeom>
          <a:noFill/>
        </p:spPr>
        <p:txBody>
          <a:bodyPr wrap="square" lIns="0" rIns="0" tIns="0" bIns="0" anchor="t">
            <a:spAutoFit/>
          </a:bodyPr>
          <a:lstStyle/>
          <a:p>
            <a:pPr algn="l"/>
            <a:r>
              <a:rPr b="0" sz="1125" i="0" u="none">
                <a:solidFill>
                  <a:srgbClr val="334155"/>
                </a:solidFill>
                <a:latin typeface="Inter"/>
              </a:rPr>
              <a:t>Probes submersed in the water container continuously capture physical and chemical parameter signals, converting ions, light loss, and thermal resistance into proportional analog voltages.</a:t>
            </a:r>
          </a:p>
        </p:txBody>
      </p:sp>
      <p:sp>
        <p:nvSpPr>
          <p:cNvPr id="25" name="TextBox 24"/>
          <p:cNvSpPr txBox="1"/>
          <p:nvPr/>
        </p:nvSpPr>
        <p:spPr>
          <a:xfrm>
            <a:off x="733425" y="3233737"/>
            <a:ext cx="11458575" cy="200025"/>
          </a:xfrm>
          <a:prstGeom prst="rect">
            <a:avLst/>
          </a:prstGeom>
          <a:noFill/>
        </p:spPr>
        <p:txBody>
          <a:bodyPr wrap="none" lIns="0" rIns="0" tIns="0" bIns="0" anchor="t">
            <a:spAutoFit/>
          </a:bodyPr>
          <a:lstStyle/>
          <a:p>
            <a:pPr algn="l"/>
            <a:r>
              <a:rPr b="1" sz="1350" i="0" u="none">
                <a:solidFill>
                  <a:srgbClr val="800000"/>
                </a:solidFill>
                <a:latin typeface="Inter"/>
              </a:rPr>
              <a:t>2. Digital Conversion &amp; Calibration Logic</a:t>
            </a:r>
          </a:p>
        </p:txBody>
      </p:sp>
      <p:sp>
        <p:nvSpPr>
          <p:cNvPr id="26" name="TextBox 25"/>
          <p:cNvSpPr txBox="1"/>
          <p:nvPr/>
        </p:nvSpPr>
        <p:spPr>
          <a:xfrm>
            <a:off x="733425" y="3509962"/>
            <a:ext cx="10858500" cy="361950"/>
          </a:xfrm>
          <a:prstGeom prst="rect">
            <a:avLst/>
          </a:prstGeom>
          <a:noFill/>
        </p:spPr>
        <p:txBody>
          <a:bodyPr wrap="square" lIns="0" rIns="0" tIns="0" bIns="0" anchor="t">
            <a:spAutoFit/>
          </a:bodyPr>
          <a:lstStyle/>
          <a:p>
            <a:pPr algn="l"/>
            <a:r>
              <a:rPr b="0" sz="1125" i="0" u="none">
                <a:solidFill>
                  <a:srgbClr val="334155"/>
                </a:solidFill>
                <a:latin typeface="Inter"/>
              </a:rPr>
              <a:t>The ESP8266 ADC samples sensor voltages. Embedded C calibration curves map analog values to standard engineering units: </a:t>
            </a:r>
            <a:r>
              <a:rPr b="1" sz="1125" i="0" u="none">
                <a:solidFill>
                  <a:srgbClr val="334155"/>
                </a:solidFill>
                <a:latin typeface="Inter"/>
              </a:rPr>
              <a:t>pH units, NTU turbidity levels, PPM TDS count, and °C temperature</a:t>
            </a:r>
            <a:r>
              <a:rPr b="0" sz="1125" i="0" u="none">
                <a:solidFill>
                  <a:srgbClr val="334155"/>
                </a:solidFill>
                <a:latin typeface="Inter"/>
              </a:rPr>
              <a:t>.</a:t>
            </a:r>
          </a:p>
        </p:txBody>
      </p:sp>
      <p:sp>
        <p:nvSpPr>
          <p:cNvPr id="27" name="TextBox 26"/>
          <p:cNvSpPr txBox="1"/>
          <p:nvPr/>
        </p:nvSpPr>
        <p:spPr>
          <a:xfrm>
            <a:off x="733425" y="4462462"/>
            <a:ext cx="11458575" cy="200025"/>
          </a:xfrm>
          <a:prstGeom prst="rect">
            <a:avLst/>
          </a:prstGeom>
          <a:noFill/>
        </p:spPr>
        <p:txBody>
          <a:bodyPr wrap="none" lIns="0" rIns="0" tIns="0" bIns="0" anchor="t">
            <a:spAutoFit/>
          </a:bodyPr>
          <a:lstStyle/>
          <a:p>
            <a:pPr algn="l"/>
            <a:r>
              <a:rPr b="1" sz="1350" i="0" u="none">
                <a:solidFill>
                  <a:srgbClr val="800000"/>
                </a:solidFill>
                <a:latin typeface="Inter"/>
              </a:rPr>
              <a:t>3. Autonomous Evaluation &amp; Cloud Telemetry</a:t>
            </a:r>
          </a:p>
        </p:txBody>
      </p:sp>
      <p:sp>
        <p:nvSpPr>
          <p:cNvPr id="28" name="TextBox 27"/>
          <p:cNvSpPr txBox="1"/>
          <p:nvPr/>
        </p:nvSpPr>
        <p:spPr>
          <a:xfrm>
            <a:off x="733425" y="4738687"/>
            <a:ext cx="10858500" cy="361950"/>
          </a:xfrm>
          <a:prstGeom prst="rect">
            <a:avLst/>
          </a:prstGeom>
          <a:noFill/>
        </p:spPr>
        <p:txBody>
          <a:bodyPr wrap="square" lIns="0" rIns="0" tIns="0" bIns="0" anchor="t">
            <a:spAutoFit/>
          </a:bodyPr>
          <a:lstStyle/>
          <a:p>
            <a:pPr algn="l"/>
            <a:r>
              <a:rPr b="0" sz="1125" i="0" u="none">
                <a:solidFill>
                  <a:srgbClr val="334155"/>
                </a:solidFill>
                <a:latin typeface="Inter"/>
              </a:rPr>
              <a:t>If parameters violate WHO safety thresholds (e.g., pH &lt; 6.5 or TDS &gt; 500 PPM), the local buzzer sounds and an immediate warning push notification is triggered over the IoT cloud gateway.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424112"/>
            <a:ext cx="5524500" cy="2257425"/>
          </a:xfrm>
          <a:prstGeom prst="roundRect">
            <a:avLst>
              <a:gd name="adj" fmla="val 337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0300" y="2424112"/>
            <a:ext cx="5524500" cy="2257425"/>
          </a:xfrm>
          <a:prstGeom prst="roundRect">
            <a:avLst>
              <a:gd name="adj" fmla="val 337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4672012"/>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424112"/>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424112"/>
            <a:ext cx="47625" cy="22574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72175" y="2424112"/>
            <a:ext cx="9525" cy="22574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4672012"/>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0300" y="2424112"/>
            <a:ext cx="5524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0300" y="2424112"/>
            <a:ext cx="47625" cy="225742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725275" y="2424112"/>
            <a:ext cx="9525" cy="22574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000" y="147637"/>
            <a:ext cx="3262312" cy="314325"/>
          </a:xfrm>
          <a:prstGeom prst="rect">
            <a:avLst/>
          </a:prstGeom>
          <a:noFill/>
        </p:spPr>
        <p:txBody>
          <a:bodyPr wrap="square" lIns="0" rIns="0" tIns="0" bIns="0" anchor="t">
            <a:spAutoFit/>
          </a:bodyPr>
          <a:lstStyle/>
          <a:p>
            <a:pPr algn="l"/>
            <a:r>
              <a:rPr b="1" sz="1650" i="0" u="none">
                <a:solidFill>
                  <a:srgbClr val="FFFFFF"/>
                </a:solidFill>
                <a:latin typeface="Poppins"/>
              </a:rPr>
              <a:t>SOFTWARE IMPLEMENTATION</a:t>
            </a:r>
          </a:p>
        </p:txBody>
      </p:sp>
      <p:sp>
        <p:nvSpPr>
          <p:cNvPr id="15" name="TextBox 14"/>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16" name="TextBox 15"/>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17" name="TextBox 16"/>
          <p:cNvSpPr txBox="1"/>
          <p:nvPr/>
        </p:nvSpPr>
        <p:spPr>
          <a:xfrm>
            <a:off x="11363325" y="6605587"/>
            <a:ext cx="733425" cy="142875"/>
          </a:xfrm>
          <a:prstGeom prst="rect">
            <a:avLst/>
          </a:prstGeom>
          <a:noFill/>
        </p:spPr>
        <p:txBody>
          <a:bodyPr wrap="none" lIns="0" rIns="0" tIns="0" bIns="0" anchor="t">
            <a:spAutoFit/>
          </a:bodyPr>
          <a:lstStyle/>
          <a:p>
            <a:pPr algn="l"/>
            <a:r>
              <a:rPr b="0" sz="900" i="0" u="none">
                <a:solidFill>
                  <a:srgbClr val="FFFFFF"/>
                </a:solidFill>
                <a:latin typeface="Inter"/>
              </a:rPr>
              <a:t>SLIDE 11</a:t>
            </a:r>
          </a:p>
        </p:txBody>
      </p:sp>
      <p:sp>
        <p:nvSpPr>
          <p:cNvPr id="18" name="TextBox 17"/>
          <p:cNvSpPr txBox="1"/>
          <p:nvPr/>
        </p:nvSpPr>
        <p:spPr>
          <a:xfrm>
            <a:off x="733425" y="2624137"/>
            <a:ext cx="6575821" cy="200025"/>
          </a:xfrm>
          <a:prstGeom prst="rect">
            <a:avLst/>
          </a:prstGeom>
          <a:noFill/>
        </p:spPr>
        <p:txBody>
          <a:bodyPr wrap="none" lIns="0" rIns="0" tIns="0" bIns="0" anchor="t">
            <a:spAutoFit/>
          </a:bodyPr>
          <a:lstStyle/>
          <a:p>
            <a:pPr algn="l"/>
            <a:r>
              <a:rPr b="1" sz="1350" i="0" u="none">
                <a:solidFill>
                  <a:srgbClr val="800000"/>
                </a:solidFill>
                <a:latin typeface="Inter"/>
              </a:rPr>
              <a:t>Development Environment</a:t>
            </a:r>
          </a:p>
        </p:txBody>
      </p:sp>
      <p:sp>
        <p:nvSpPr>
          <p:cNvPr id="19" name="TextBox 18"/>
          <p:cNvSpPr txBox="1"/>
          <p:nvPr/>
        </p:nvSpPr>
        <p:spPr>
          <a:xfrm>
            <a:off x="6486525" y="2624137"/>
            <a:ext cx="5705475" cy="200025"/>
          </a:xfrm>
          <a:prstGeom prst="rect">
            <a:avLst/>
          </a:prstGeom>
          <a:noFill/>
        </p:spPr>
        <p:txBody>
          <a:bodyPr wrap="none" lIns="0" rIns="0" tIns="0" bIns="0" anchor="t">
            <a:spAutoFit/>
          </a:bodyPr>
          <a:lstStyle/>
          <a:p>
            <a:pPr algn="l"/>
            <a:r>
              <a:rPr b="1" sz="1350" i="0" u="none">
                <a:solidFill>
                  <a:srgbClr val="800000"/>
                </a:solidFill>
                <a:latin typeface="Inter"/>
              </a:rPr>
              <a:t>Cloud &amp; Dashboard Platforms</a:t>
            </a:r>
          </a:p>
        </p:txBody>
      </p:sp>
      <p:sp>
        <p:nvSpPr>
          <p:cNvPr id="20" name="TextBox 19"/>
          <p:cNvSpPr txBox="1"/>
          <p:nvPr/>
        </p:nvSpPr>
        <p:spPr>
          <a:xfrm>
            <a:off x="847725" y="293846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1" name="TextBox 20"/>
          <p:cNvSpPr txBox="1"/>
          <p:nvPr/>
        </p:nvSpPr>
        <p:spPr>
          <a:xfrm>
            <a:off x="923925" y="2938462"/>
            <a:ext cx="4914900" cy="514350"/>
          </a:xfrm>
          <a:prstGeom prst="rect">
            <a:avLst/>
          </a:prstGeom>
          <a:noFill/>
        </p:spPr>
        <p:txBody>
          <a:bodyPr wrap="square" lIns="76200" rIns="0" tIns="0" bIns="0" anchor="t">
            <a:spAutoFit/>
          </a:bodyPr>
          <a:lstStyle/>
          <a:p>
            <a:pPr algn="l">
              <a:lnSpc>
                <a:spcPts val="2025"/>
              </a:lnSpc>
            </a:pPr>
            <a:r>
              <a:rPr b="1" sz="1125" i="0" u="none">
                <a:solidFill>
                  <a:srgbClr val="334155"/>
                </a:solidFill>
                <a:latin typeface="Inter"/>
              </a:rPr>
              <a:t>Arduino IDE:</a:t>
            </a:r>
            <a:r>
              <a:rPr b="0" sz="1125" i="0" u="none">
                <a:solidFill>
                  <a:srgbClr val="334155"/>
                </a:solidFill>
                <a:latin typeface="Inter"/>
              </a:rPr>
              <a:t> Embedded C/C++ firmware compiled for ESP8266 architecture.</a:t>
            </a:r>
          </a:p>
        </p:txBody>
      </p:sp>
      <p:sp>
        <p:nvSpPr>
          <p:cNvPr id="22" name="TextBox 21"/>
          <p:cNvSpPr txBox="1"/>
          <p:nvPr/>
        </p:nvSpPr>
        <p:spPr>
          <a:xfrm>
            <a:off x="847725" y="345281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3" name="TextBox 22"/>
          <p:cNvSpPr txBox="1"/>
          <p:nvPr/>
        </p:nvSpPr>
        <p:spPr>
          <a:xfrm>
            <a:off x="923925" y="3452812"/>
            <a:ext cx="4914900" cy="514350"/>
          </a:xfrm>
          <a:prstGeom prst="rect">
            <a:avLst/>
          </a:prstGeom>
          <a:noFill/>
        </p:spPr>
        <p:txBody>
          <a:bodyPr wrap="square" lIns="76200" rIns="0" tIns="0" bIns="0" anchor="t">
            <a:spAutoFit/>
          </a:bodyPr>
          <a:lstStyle/>
          <a:p>
            <a:pPr algn="l">
              <a:lnSpc>
                <a:spcPts val="2025"/>
              </a:lnSpc>
            </a:pPr>
            <a:r>
              <a:rPr b="1" sz="1125" i="0" u="none">
                <a:solidFill>
                  <a:srgbClr val="334155"/>
                </a:solidFill>
                <a:latin typeface="Inter"/>
              </a:rPr>
              <a:t>Libraries Used:</a:t>
            </a:r>
            <a:r>
              <a:rPr b="0" sz="1125" i="0" u="none">
                <a:solidFill>
                  <a:srgbClr val="334155"/>
                </a:solidFill>
                <a:latin typeface="Inter"/>
              </a:rPr>
              <a:t> ESP8266WiFi.h, ThingSpeak.h, OneWire.h, DallasTemperature.h.</a:t>
            </a:r>
          </a:p>
        </p:txBody>
      </p:sp>
      <p:sp>
        <p:nvSpPr>
          <p:cNvPr id="24" name="TextBox 23"/>
          <p:cNvSpPr txBox="1"/>
          <p:nvPr/>
        </p:nvSpPr>
        <p:spPr>
          <a:xfrm>
            <a:off x="847725" y="396716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5" name="TextBox 24"/>
          <p:cNvSpPr txBox="1"/>
          <p:nvPr/>
        </p:nvSpPr>
        <p:spPr>
          <a:xfrm>
            <a:off x="923925" y="3967162"/>
            <a:ext cx="4914900" cy="514350"/>
          </a:xfrm>
          <a:prstGeom prst="rect">
            <a:avLst/>
          </a:prstGeom>
          <a:noFill/>
        </p:spPr>
        <p:txBody>
          <a:bodyPr wrap="square" lIns="76200" rIns="0" tIns="0" bIns="0" anchor="t">
            <a:spAutoFit/>
          </a:bodyPr>
          <a:lstStyle/>
          <a:p>
            <a:pPr algn="l">
              <a:lnSpc>
                <a:spcPts val="2025"/>
              </a:lnSpc>
            </a:pPr>
            <a:r>
              <a:rPr b="1" sz="1125" i="0" u="none">
                <a:solidFill>
                  <a:srgbClr val="334155"/>
                </a:solidFill>
                <a:latin typeface="Inter"/>
              </a:rPr>
              <a:t>Sampling Frequency:</a:t>
            </a:r>
            <a:r>
              <a:rPr b="0" sz="1125" i="0" u="none">
                <a:solidFill>
                  <a:srgbClr val="334155"/>
                </a:solidFill>
                <a:latin typeface="Inter"/>
              </a:rPr>
              <a:t> 15-second update intervals to prevent cloud bandwidth congestion.</a:t>
            </a:r>
          </a:p>
        </p:txBody>
      </p:sp>
      <p:sp>
        <p:nvSpPr>
          <p:cNvPr id="26" name="TextBox 25"/>
          <p:cNvSpPr txBox="1"/>
          <p:nvPr/>
        </p:nvSpPr>
        <p:spPr>
          <a:xfrm>
            <a:off x="6600825" y="293846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7" name="TextBox 26"/>
          <p:cNvSpPr txBox="1"/>
          <p:nvPr/>
        </p:nvSpPr>
        <p:spPr>
          <a:xfrm>
            <a:off x="6677025" y="2938462"/>
            <a:ext cx="4914900" cy="514350"/>
          </a:xfrm>
          <a:prstGeom prst="rect">
            <a:avLst/>
          </a:prstGeom>
          <a:noFill/>
        </p:spPr>
        <p:txBody>
          <a:bodyPr wrap="square" lIns="76200" rIns="0" tIns="0" bIns="0" anchor="t">
            <a:spAutoFit/>
          </a:bodyPr>
          <a:lstStyle/>
          <a:p>
            <a:pPr algn="l">
              <a:lnSpc>
                <a:spcPts val="2025"/>
              </a:lnSpc>
            </a:pPr>
            <a:r>
              <a:rPr b="1" sz="1125" i="0" u="none">
                <a:solidFill>
                  <a:srgbClr val="334155"/>
                </a:solidFill>
                <a:latin typeface="Inter"/>
              </a:rPr>
              <a:t>ThingSpeak IoT Cloud:</a:t>
            </a:r>
            <a:r>
              <a:rPr b="0" sz="1125" i="0" u="none">
                <a:solidFill>
                  <a:srgbClr val="334155"/>
                </a:solidFill>
                <a:latin typeface="Inter"/>
              </a:rPr>
              <a:t> Time-series data logging with real-time graphical visualization.</a:t>
            </a:r>
          </a:p>
        </p:txBody>
      </p:sp>
      <p:sp>
        <p:nvSpPr>
          <p:cNvPr id="28" name="TextBox 27"/>
          <p:cNvSpPr txBox="1"/>
          <p:nvPr/>
        </p:nvSpPr>
        <p:spPr>
          <a:xfrm>
            <a:off x="6600825" y="345281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9" name="TextBox 28"/>
          <p:cNvSpPr txBox="1"/>
          <p:nvPr/>
        </p:nvSpPr>
        <p:spPr>
          <a:xfrm>
            <a:off x="6677025" y="3452812"/>
            <a:ext cx="4914900" cy="514350"/>
          </a:xfrm>
          <a:prstGeom prst="rect">
            <a:avLst/>
          </a:prstGeom>
          <a:noFill/>
        </p:spPr>
        <p:txBody>
          <a:bodyPr wrap="square" lIns="76200" rIns="0" tIns="0" bIns="0" anchor="t">
            <a:spAutoFit/>
          </a:bodyPr>
          <a:lstStyle/>
          <a:p>
            <a:pPr algn="l">
              <a:lnSpc>
                <a:spcPts val="2025"/>
              </a:lnSpc>
            </a:pPr>
            <a:r>
              <a:rPr b="1" sz="1125" i="0" u="none">
                <a:solidFill>
                  <a:srgbClr val="334155"/>
                </a:solidFill>
                <a:latin typeface="Inter"/>
              </a:rPr>
              <a:t>Blynk IoT App:</a:t>
            </a:r>
            <a:r>
              <a:rPr b="0" sz="1125" i="0" u="none">
                <a:solidFill>
                  <a:srgbClr val="334155"/>
                </a:solidFill>
                <a:latin typeface="Inter"/>
              </a:rPr>
              <a:t> Mobile GUI featuring live gauge widgets and instantaneous alarm notifications.</a:t>
            </a:r>
          </a:p>
        </p:txBody>
      </p:sp>
      <p:sp>
        <p:nvSpPr>
          <p:cNvPr id="30" name="TextBox 29"/>
          <p:cNvSpPr txBox="1"/>
          <p:nvPr/>
        </p:nvSpPr>
        <p:spPr>
          <a:xfrm>
            <a:off x="6600825" y="3967162"/>
            <a:ext cx="76200" cy="257175"/>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31" name="TextBox 30"/>
          <p:cNvSpPr txBox="1"/>
          <p:nvPr/>
        </p:nvSpPr>
        <p:spPr>
          <a:xfrm>
            <a:off x="6677025" y="3967162"/>
            <a:ext cx="5514975" cy="257175"/>
          </a:xfrm>
          <a:prstGeom prst="rect">
            <a:avLst/>
          </a:prstGeom>
          <a:noFill/>
        </p:spPr>
        <p:txBody>
          <a:bodyPr wrap="none" lIns="76200" rIns="0" tIns="0" bIns="0" anchor="t">
            <a:spAutoFit/>
          </a:bodyPr>
          <a:lstStyle/>
          <a:p>
            <a:pPr algn="l">
              <a:lnSpc>
                <a:spcPts val="2025"/>
              </a:lnSpc>
            </a:pPr>
            <a:r>
              <a:rPr b="1" sz="1125" i="0" u="none">
                <a:solidFill>
                  <a:srgbClr val="334155"/>
                </a:solidFill>
                <a:latin typeface="Inter"/>
              </a:rPr>
              <a:t>HTTP REST API / MQTT:</a:t>
            </a:r>
            <a:r>
              <a:rPr b="0" sz="1125" i="0" u="none">
                <a:solidFill>
                  <a:srgbClr val="334155"/>
                </a:solidFill>
                <a:latin typeface="Inter"/>
              </a:rPr>
              <a:t> Lightweight telemetry protocol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758880" y="1933575"/>
            <a:ext cx="4975919" cy="3238500"/>
          </a:xfrm>
          <a:prstGeom prst="rect">
            <a:avLst/>
          </a:prstGeom>
        </p:spPr>
      </p:pic>
      <p:pic>
        <p:nvPicPr>
          <p:cNvPr id="5" name="Picture 4" descr="image.png"/>
          <p:cNvPicPr>
            <a:picLocks noChangeAspect="1"/>
          </p:cNvPicPr>
          <p:nvPr/>
        </p:nvPicPr>
        <p:blipFill>
          <a:blip r:embed="rId3"/>
          <a:stretch>
            <a:fillRect/>
          </a:stretch>
        </p:blipFill>
        <p:spPr>
          <a:xfrm>
            <a:off x="6777930" y="1952625"/>
            <a:ext cx="4937819" cy="3200400"/>
          </a:xfrm>
          <a:prstGeom prst="rect">
            <a:avLst/>
          </a:prstGeom>
        </p:spPr>
      </p:pic>
      <p:sp>
        <p:nvSpPr>
          <p:cNvPr id="6" name="Rounded Rectangle 5"/>
          <p:cNvSpPr/>
          <p:nvPr/>
        </p:nvSpPr>
        <p:spPr>
          <a:xfrm>
            <a:off x="457200" y="2981325"/>
            <a:ext cx="6034980" cy="14478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2981325"/>
          <a:ext cx="6025453" cy="1447800"/>
        </p:xfrm>
        <a:graphic>
          <a:graphicData uri="http://schemas.openxmlformats.org/drawingml/2006/table">
            <a:tbl>
              <a:tblPr firstRow="0" bandRow="0">
                <a:lnL>
                  <a:noFill/>
                </a:lnL>
                <a:lnR>
                  <a:noFill/>
                </a:lnR>
                <a:lnT>
                  <a:noFill/>
                </a:lnT>
                <a:lnB>
                  <a:noFill/>
                </a:lnB>
                <a:lnV>
                  <a:noFill/>
                </a:lnV>
                <a:lnH>
                  <a:noFill/>
                </a:lnH>
              </a:tblPr>
              <a:tblGrid>
                <a:gridCol w="1552128"/>
                <a:gridCol w="893415"/>
                <a:gridCol w="1053851"/>
                <a:gridCol w="1431875"/>
                <a:gridCol w="1094184"/>
              </a:tblGrid>
              <a:tr h="361950">
                <a:tc>
                  <a:txBody>
                    <a:bodyPr/>
                    <a:lstStyle/>
                    <a:p>
                      <a:pPr algn="ctr"/>
                      <a:r>
                        <a:rPr b="1" sz="1050" i="0" u="none">
                          <a:solidFill>
                            <a:srgbClr val="FFFFFF"/>
                          </a:solidFill>
                          <a:latin typeface="Inter"/>
                        </a:rPr>
                        <a:t>Water Sample</a:t>
                      </a:r>
                    </a:p>
                  </a:txBody>
                  <a:tcPr anchor="ctr" marL="63500" marR="63500" marT="25400" marB="25400">
                    <a:lnL>
                      <a:noFill/>
                    </a:lnL>
                    <a:lnR>
                      <a:noFill/>
                    </a:lnR>
                    <a:lnT>
                      <a:noFill/>
                    </a:lnT>
                    <a:lnB>
                      <a:noFill/>
                    </a:lnB>
                    <a:solidFill>
                      <a:srgbClr val="800000"/>
                    </a:solidFill>
                  </a:tcPr>
                </a:tc>
                <a:tc>
                  <a:txBody>
                    <a:bodyPr/>
                    <a:lstStyle/>
                    <a:p>
                      <a:pPr algn="ctr"/>
                      <a:r>
                        <a:rPr b="1" sz="1050" i="0" u="none">
                          <a:solidFill>
                            <a:srgbClr val="FFFFFF"/>
                          </a:solidFill>
                          <a:latin typeface="Inter"/>
                        </a:rPr>
                        <a:t>pH Level</a:t>
                      </a:r>
                    </a:p>
                  </a:txBody>
                  <a:tcPr anchor="ctr" marL="63500" marR="63500" marT="25400" marB="25400">
                    <a:lnL>
                      <a:noFill/>
                    </a:lnL>
                    <a:lnR>
                      <a:noFill/>
                    </a:lnR>
                    <a:lnT>
                      <a:noFill/>
                    </a:lnT>
                    <a:lnB>
                      <a:noFill/>
                    </a:lnB>
                    <a:solidFill>
                      <a:srgbClr val="800000"/>
                    </a:solidFill>
                  </a:tcPr>
                </a:tc>
                <a:tc>
                  <a:txBody>
                    <a:bodyPr/>
                    <a:lstStyle/>
                    <a:p>
                      <a:pPr algn="ctr"/>
                      <a:r>
                        <a:rPr b="1" sz="1050" i="0" u="none">
                          <a:solidFill>
                            <a:srgbClr val="FFFFFF"/>
                          </a:solidFill>
                          <a:latin typeface="Inter"/>
                        </a:rPr>
                        <a:t>TDS (PPM)</a:t>
                      </a:r>
                    </a:p>
                  </a:txBody>
                  <a:tcPr anchor="ctr" marL="63500" marR="63500" marT="25400" marB="25400">
                    <a:lnL>
                      <a:noFill/>
                    </a:lnL>
                    <a:lnR>
                      <a:noFill/>
                    </a:lnR>
                    <a:lnT>
                      <a:noFill/>
                    </a:lnT>
                    <a:lnB>
                      <a:noFill/>
                    </a:lnB>
                    <a:solidFill>
                      <a:srgbClr val="800000"/>
                    </a:solidFill>
                  </a:tcPr>
                </a:tc>
                <a:tc>
                  <a:txBody>
                    <a:bodyPr/>
                    <a:lstStyle/>
                    <a:p>
                      <a:pPr algn="ctr"/>
                      <a:r>
                        <a:rPr b="1" sz="1050" i="0" u="none">
                          <a:solidFill>
                            <a:srgbClr val="FFFFFF"/>
                          </a:solidFill>
                          <a:latin typeface="Inter"/>
                        </a:rPr>
                        <a:t>Turbidity (NTU)</a:t>
                      </a:r>
                    </a:p>
                  </a:txBody>
                  <a:tcPr anchor="ctr" marL="63500" marR="63500" marT="25400" marB="25400">
                    <a:lnL>
                      <a:noFill/>
                    </a:lnL>
                    <a:lnR>
                      <a:noFill/>
                    </a:lnR>
                    <a:lnT>
                      <a:noFill/>
                    </a:lnT>
                    <a:lnB>
                      <a:noFill/>
                    </a:lnB>
                    <a:solidFill>
                      <a:srgbClr val="800000"/>
                    </a:solidFill>
                  </a:tcPr>
                </a:tc>
                <a:tc>
                  <a:txBody>
                    <a:bodyPr/>
                    <a:lstStyle/>
                    <a:p>
                      <a:pPr algn="ctr"/>
                      <a:r>
                        <a:rPr b="1" sz="1050" i="0" u="none">
                          <a:solidFill>
                            <a:srgbClr val="FFFFFF"/>
                          </a:solidFill>
                          <a:latin typeface="Inter"/>
                        </a:rPr>
                        <a:t>Status</a:t>
                      </a:r>
                    </a:p>
                  </a:txBody>
                  <a:tcPr anchor="ctr" marL="63500" marR="63500" marT="25400" marB="25400">
                    <a:lnL>
                      <a:noFill/>
                    </a:lnL>
                    <a:lnR>
                      <a:noFill/>
                    </a:lnR>
                    <a:lnT>
                      <a:noFill/>
                    </a:lnT>
                    <a:lnB>
                      <a:noFill/>
                    </a:lnB>
                    <a:solidFill>
                      <a:srgbClr val="800000"/>
                    </a:solidFill>
                  </a:tcPr>
                </a:tc>
              </a:tr>
              <a:tr h="361950">
                <a:tc>
                  <a:txBody>
                    <a:bodyPr/>
                    <a:lstStyle/>
                    <a:p>
                      <a:pPr algn="ctr"/>
                      <a:r>
                        <a:rPr b="1" sz="1050" i="0" u="none">
                          <a:solidFill>
                            <a:srgbClr val="1E293B"/>
                          </a:solidFill>
                          <a:latin typeface="Inter"/>
                        </a:rPr>
                        <a:t>Tap Water</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7.2</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180</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2.1</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16A34A"/>
                          </a:solidFill>
                          <a:latin typeface="Inter"/>
                        </a:rPr>
                        <a:t>Safe</a:t>
                      </a:r>
                    </a:p>
                  </a:txBody>
                  <a:tcPr anchor="ctr" marL="63500" marR="63500" marT="25400" marB="25400">
                    <a:lnL>
                      <a:noFill/>
                    </a:lnL>
                    <a:lnR>
                      <a:noFill/>
                    </a:lnR>
                    <a:lnT>
                      <a:noFill/>
                    </a:lnT>
                    <a:lnB>
                      <a:noFill/>
                    </a:lnB>
                    <a:solidFill>
                      <a:srgbClr val="FFFFFF"/>
                    </a:solidFill>
                  </a:tcPr>
                </a:tc>
              </a:tr>
              <a:tr h="361950">
                <a:tc>
                  <a:txBody>
                    <a:bodyPr/>
                    <a:lstStyle/>
                    <a:p>
                      <a:pPr algn="ctr"/>
                      <a:r>
                        <a:rPr b="1" sz="1050" i="0" u="none">
                          <a:solidFill>
                            <a:srgbClr val="1E293B"/>
                          </a:solidFill>
                          <a:latin typeface="Inter"/>
                        </a:rPr>
                        <a:t>RO Filtered</a:t>
                      </a:r>
                    </a:p>
                  </a:txBody>
                  <a:tcPr anchor="ctr" marL="63500" marR="63500" marT="25400" marB="25400">
                    <a:lnL>
                      <a:noFill/>
                    </a:lnL>
                    <a:lnR>
                      <a:noFill/>
                    </a:lnR>
                    <a:lnT>
                      <a:noFill/>
                    </a:lnT>
                    <a:lnB>
                      <a:noFill/>
                    </a:lnB>
                    <a:solidFill>
                      <a:srgbClr val="F8FAFC"/>
                    </a:solidFill>
                  </a:tcPr>
                </a:tc>
                <a:tc>
                  <a:txBody>
                    <a:bodyPr/>
                    <a:lstStyle/>
                    <a:p>
                      <a:pPr algn="ctr"/>
                      <a:r>
                        <a:rPr b="0" sz="1050" i="0" u="none">
                          <a:solidFill>
                            <a:srgbClr val="1E293B"/>
                          </a:solidFill>
                          <a:latin typeface="Inter"/>
                        </a:rPr>
                        <a:t>6.8</a:t>
                      </a:r>
                    </a:p>
                  </a:txBody>
                  <a:tcPr anchor="ctr" marL="63500" marR="63500" marT="25400" marB="25400">
                    <a:lnL>
                      <a:noFill/>
                    </a:lnL>
                    <a:lnR>
                      <a:noFill/>
                    </a:lnR>
                    <a:lnT>
                      <a:noFill/>
                    </a:lnT>
                    <a:lnB>
                      <a:noFill/>
                    </a:lnB>
                    <a:solidFill>
                      <a:srgbClr val="F8FAFC"/>
                    </a:solidFill>
                  </a:tcPr>
                </a:tc>
                <a:tc>
                  <a:txBody>
                    <a:bodyPr/>
                    <a:lstStyle/>
                    <a:p>
                      <a:pPr algn="ctr"/>
                      <a:r>
                        <a:rPr b="0" sz="1050" i="0" u="none">
                          <a:solidFill>
                            <a:srgbClr val="1E293B"/>
                          </a:solidFill>
                          <a:latin typeface="Inter"/>
                        </a:rPr>
                        <a:t>45</a:t>
                      </a:r>
                    </a:p>
                  </a:txBody>
                  <a:tcPr anchor="ctr" marL="63500" marR="63500" marT="25400" marB="25400">
                    <a:lnL>
                      <a:noFill/>
                    </a:lnL>
                    <a:lnR>
                      <a:noFill/>
                    </a:lnR>
                    <a:lnT>
                      <a:noFill/>
                    </a:lnT>
                    <a:lnB>
                      <a:noFill/>
                    </a:lnB>
                    <a:solidFill>
                      <a:srgbClr val="F8FAFC"/>
                    </a:solidFill>
                  </a:tcPr>
                </a:tc>
                <a:tc>
                  <a:txBody>
                    <a:bodyPr/>
                    <a:lstStyle/>
                    <a:p>
                      <a:pPr algn="ctr"/>
                      <a:r>
                        <a:rPr b="0" sz="1050" i="0" u="none">
                          <a:solidFill>
                            <a:srgbClr val="1E293B"/>
                          </a:solidFill>
                          <a:latin typeface="Inter"/>
                        </a:rPr>
                        <a:t>0.4</a:t>
                      </a:r>
                    </a:p>
                  </a:txBody>
                  <a:tcPr anchor="ctr" marL="63500" marR="63500" marT="25400" marB="25400">
                    <a:lnL>
                      <a:noFill/>
                    </a:lnL>
                    <a:lnR>
                      <a:noFill/>
                    </a:lnR>
                    <a:lnT>
                      <a:noFill/>
                    </a:lnT>
                    <a:lnB>
                      <a:noFill/>
                    </a:lnB>
                    <a:solidFill>
                      <a:srgbClr val="F8FAFC"/>
                    </a:solidFill>
                  </a:tcPr>
                </a:tc>
                <a:tc>
                  <a:txBody>
                    <a:bodyPr/>
                    <a:lstStyle/>
                    <a:p>
                      <a:pPr algn="ctr"/>
                      <a:r>
                        <a:rPr b="1" sz="1050" i="0" u="none">
                          <a:solidFill>
                            <a:srgbClr val="16A34A"/>
                          </a:solidFill>
                          <a:latin typeface="Inter"/>
                        </a:rPr>
                        <a:t>Pure</a:t>
                      </a:r>
                    </a:p>
                  </a:txBody>
                  <a:tcPr anchor="ctr" marL="63500" marR="63500" marT="25400" marB="25400">
                    <a:lnL>
                      <a:noFill/>
                    </a:lnL>
                    <a:lnR>
                      <a:noFill/>
                    </a:lnR>
                    <a:lnT>
                      <a:noFill/>
                    </a:lnT>
                    <a:lnB>
                      <a:noFill/>
                    </a:lnB>
                    <a:solidFill>
                      <a:srgbClr val="F8FAFC"/>
                    </a:solidFill>
                  </a:tcPr>
                </a:tc>
              </a:tr>
              <a:tr h="361950">
                <a:tc>
                  <a:txBody>
                    <a:bodyPr/>
                    <a:lstStyle/>
                    <a:p>
                      <a:pPr algn="ctr"/>
                      <a:r>
                        <a:rPr b="1" sz="1050" i="0" u="none">
                          <a:solidFill>
                            <a:srgbClr val="1E293B"/>
                          </a:solidFill>
                          <a:latin typeface="Inter"/>
                        </a:rPr>
                        <a:t>Industrial Runoff</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4.5</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820</a:t>
                      </a:r>
                    </a:p>
                  </a:txBody>
                  <a:tcPr anchor="ctr" marL="63500" marR="63500" marT="25400" marB="25400">
                    <a:lnL>
                      <a:noFill/>
                    </a:lnL>
                    <a:lnR>
                      <a:noFill/>
                    </a:lnR>
                    <a:lnT>
                      <a:noFill/>
                    </a:lnT>
                    <a:lnB>
                      <a:noFill/>
                    </a:lnB>
                    <a:solidFill>
                      <a:srgbClr val="FFFFFF"/>
                    </a:solidFill>
                  </a:tcPr>
                </a:tc>
                <a:tc>
                  <a:txBody>
                    <a:bodyPr/>
                    <a:lstStyle/>
                    <a:p>
                      <a:pPr algn="ctr"/>
                      <a:r>
                        <a:rPr b="0" sz="1050" i="0" u="none">
                          <a:solidFill>
                            <a:srgbClr val="1E293B"/>
                          </a:solidFill>
                          <a:latin typeface="Inter"/>
                        </a:rPr>
                        <a:t>48.0</a:t>
                      </a:r>
                    </a:p>
                  </a:txBody>
                  <a:tcPr anchor="ctr" marL="63500" marR="63500" marT="25400" marB="25400">
                    <a:lnL>
                      <a:noFill/>
                    </a:lnL>
                    <a:lnR>
                      <a:noFill/>
                    </a:lnR>
                    <a:lnT>
                      <a:noFill/>
                    </a:lnT>
                    <a:lnB>
                      <a:noFill/>
                    </a:lnB>
                    <a:solidFill>
                      <a:srgbClr val="FFFFFF"/>
                    </a:solidFill>
                  </a:tcPr>
                </a:tc>
                <a:tc>
                  <a:txBody>
                    <a:bodyPr/>
                    <a:lstStyle/>
                    <a:p>
                      <a:pPr algn="ctr"/>
                      <a:r>
                        <a:rPr b="1" sz="1050" i="0" u="none">
                          <a:solidFill>
                            <a:srgbClr val="DC2626"/>
                          </a:solidFill>
                          <a:latin typeface="Inter"/>
                        </a:rPr>
                        <a:t>Hazardous</a:t>
                      </a:r>
                    </a:p>
                  </a:txBody>
                  <a:tcPr anchor="ctr" marL="63500" marR="63500" marT="25400" marB="25400">
                    <a:lnL>
                      <a:noFill/>
                    </a:lnL>
                    <a:lnR>
                      <a:noFill/>
                    </a:lnR>
                    <a:lnT>
                      <a:noFill/>
                    </a:lnT>
                    <a:lnB>
                      <a:noFill/>
                    </a:lnB>
                    <a:solidFill>
                      <a:srgbClr val="FFFFFF"/>
                    </a:solidFill>
                  </a:tcPr>
                </a:tc>
              </a:tr>
            </a:tbl>
          </a:graphicData>
        </a:graphic>
      </p:graphicFrame>
      <p:sp>
        <p:nvSpPr>
          <p:cNvPr id="8" name="TextBox 7"/>
          <p:cNvSpPr txBox="1"/>
          <p:nvPr/>
        </p:nvSpPr>
        <p:spPr>
          <a:xfrm>
            <a:off x="381000" y="147637"/>
            <a:ext cx="2933700" cy="314325"/>
          </a:xfrm>
          <a:prstGeom prst="rect">
            <a:avLst/>
          </a:prstGeom>
          <a:noFill/>
        </p:spPr>
        <p:txBody>
          <a:bodyPr wrap="square" lIns="0" rIns="0" tIns="0" bIns="0" anchor="t">
            <a:spAutoFit/>
          </a:bodyPr>
          <a:lstStyle/>
          <a:p>
            <a:pPr algn="l"/>
            <a:r>
              <a:rPr b="1" sz="1650" i="0" u="none">
                <a:solidFill>
                  <a:srgbClr val="FFFFFF"/>
                </a:solidFill>
                <a:latin typeface="Poppins"/>
              </a:rPr>
              <a:t>RESULTS AND DISCUSSION</a:t>
            </a:r>
          </a:p>
        </p:txBody>
      </p:sp>
      <p:sp>
        <p:nvSpPr>
          <p:cNvPr id="9" name="TextBox 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10" name="TextBox 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11" name="TextBox 10"/>
          <p:cNvSpPr txBox="1"/>
          <p:nvPr/>
        </p:nvSpPr>
        <p:spPr>
          <a:xfrm>
            <a:off x="11344275" y="6605587"/>
            <a:ext cx="752475" cy="142875"/>
          </a:xfrm>
          <a:prstGeom prst="rect">
            <a:avLst/>
          </a:prstGeom>
          <a:noFill/>
        </p:spPr>
        <p:txBody>
          <a:bodyPr wrap="none" lIns="0" rIns="0" tIns="0" bIns="0" anchor="t">
            <a:spAutoFit/>
          </a:bodyPr>
          <a:lstStyle/>
          <a:p>
            <a:pPr algn="l"/>
            <a:r>
              <a:rPr b="0" sz="900" i="0" u="none">
                <a:solidFill>
                  <a:srgbClr val="FFFFFF"/>
                </a:solidFill>
                <a:latin typeface="Inter"/>
              </a:rPr>
              <a:t>SLIDE 12</a:t>
            </a:r>
          </a:p>
        </p:txBody>
      </p:sp>
      <p:sp>
        <p:nvSpPr>
          <p:cNvPr id="12" name="TextBox 11"/>
          <p:cNvSpPr txBox="1"/>
          <p:nvPr/>
        </p:nvSpPr>
        <p:spPr>
          <a:xfrm>
            <a:off x="457200" y="2676525"/>
            <a:ext cx="7920911" cy="190500"/>
          </a:xfrm>
          <a:prstGeom prst="rect">
            <a:avLst/>
          </a:prstGeom>
          <a:noFill/>
        </p:spPr>
        <p:txBody>
          <a:bodyPr wrap="none" lIns="0" rIns="0" tIns="0" bIns="0" anchor="t">
            <a:spAutoFit/>
          </a:bodyPr>
          <a:lstStyle/>
          <a:p>
            <a:pPr algn="l"/>
            <a:r>
              <a:rPr b="1" sz="1275" i="0" u="none">
                <a:solidFill>
                  <a:srgbClr val="800000"/>
                </a:solidFill>
                <a:latin typeface="Inter"/>
              </a:rPr>
              <a:t>Experimental Test Samples Summary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505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505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648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1250" y="3648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05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05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91225" y="2505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125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1250" y="2505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1250" y="2505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25275" y="2505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591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648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91225" y="3648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1250" y="4591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125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1250" y="3648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25275" y="3648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2"/>
          <a:stretch>
            <a:fillRect/>
          </a:stretch>
        </p:blipFill>
        <p:spPr>
          <a:xfrm>
            <a:off x="733425" y="2705100"/>
            <a:ext cx="342900" cy="342900"/>
          </a:xfrm>
          <a:prstGeom prst="rect">
            <a:avLst/>
          </a:prstGeom>
        </p:spPr>
      </p:pic>
      <p:pic>
        <p:nvPicPr>
          <p:cNvPr id="25" name="Picture 24" descr="image.png"/>
          <p:cNvPicPr>
            <a:picLocks noChangeAspect="1"/>
          </p:cNvPicPr>
          <p:nvPr/>
        </p:nvPicPr>
        <p:blipFill>
          <a:blip r:embed="rId2"/>
          <a:stretch>
            <a:fillRect/>
          </a:stretch>
        </p:blipFill>
        <p:spPr>
          <a:xfrm>
            <a:off x="6467475" y="2705100"/>
            <a:ext cx="342900" cy="342900"/>
          </a:xfrm>
          <a:prstGeom prst="rect">
            <a:avLst/>
          </a:prstGeom>
        </p:spPr>
      </p:pic>
      <p:pic>
        <p:nvPicPr>
          <p:cNvPr id="26" name="Picture 25" descr="image.png"/>
          <p:cNvPicPr>
            <a:picLocks noChangeAspect="1"/>
          </p:cNvPicPr>
          <p:nvPr/>
        </p:nvPicPr>
        <p:blipFill>
          <a:blip r:embed="rId2"/>
          <a:stretch>
            <a:fillRect/>
          </a:stretch>
        </p:blipFill>
        <p:spPr>
          <a:xfrm>
            <a:off x="733425" y="3848100"/>
            <a:ext cx="342900" cy="342900"/>
          </a:xfrm>
          <a:prstGeom prst="rect">
            <a:avLst/>
          </a:prstGeom>
        </p:spPr>
      </p:pic>
      <p:pic>
        <p:nvPicPr>
          <p:cNvPr id="27" name="Picture 26" descr="image.png"/>
          <p:cNvPicPr>
            <a:picLocks noChangeAspect="1"/>
          </p:cNvPicPr>
          <p:nvPr/>
        </p:nvPicPr>
        <p:blipFill>
          <a:blip r:embed="rId2"/>
          <a:stretch>
            <a:fillRect/>
          </a:stretch>
        </p:blipFill>
        <p:spPr>
          <a:xfrm>
            <a:off x="6467475" y="3848100"/>
            <a:ext cx="342900" cy="342900"/>
          </a:xfrm>
          <a:prstGeom prst="rect">
            <a:avLst/>
          </a:prstGeom>
        </p:spPr>
      </p:pic>
      <p:pic>
        <p:nvPicPr>
          <p:cNvPr id="28" name="Picture 27" descr="image.png"/>
          <p:cNvPicPr>
            <a:picLocks noChangeAspect="1"/>
          </p:cNvPicPr>
          <p:nvPr/>
        </p:nvPicPr>
        <p:blipFill>
          <a:blip r:embed="rId3"/>
          <a:stretch>
            <a:fillRect/>
          </a:stretch>
        </p:blipFill>
        <p:spPr>
          <a:xfrm>
            <a:off x="828675" y="2800350"/>
            <a:ext cx="152400" cy="152400"/>
          </a:xfrm>
          <a:prstGeom prst="rect">
            <a:avLst/>
          </a:prstGeom>
        </p:spPr>
      </p:pic>
      <p:pic>
        <p:nvPicPr>
          <p:cNvPr id="29" name="Picture 28" descr="image.png"/>
          <p:cNvPicPr>
            <a:picLocks noChangeAspect="1"/>
          </p:cNvPicPr>
          <p:nvPr/>
        </p:nvPicPr>
        <p:blipFill>
          <a:blip r:embed="rId4"/>
          <a:stretch>
            <a:fillRect/>
          </a:stretch>
        </p:blipFill>
        <p:spPr>
          <a:xfrm>
            <a:off x="6562725" y="2800350"/>
            <a:ext cx="152400" cy="152400"/>
          </a:xfrm>
          <a:prstGeom prst="rect">
            <a:avLst/>
          </a:prstGeom>
        </p:spPr>
      </p:pic>
      <p:pic>
        <p:nvPicPr>
          <p:cNvPr id="30" name="Picture 29" descr="image.png"/>
          <p:cNvPicPr>
            <a:picLocks noChangeAspect="1"/>
          </p:cNvPicPr>
          <p:nvPr/>
        </p:nvPicPr>
        <p:blipFill>
          <a:blip r:embed="rId5"/>
          <a:stretch>
            <a:fillRect/>
          </a:stretch>
        </p:blipFill>
        <p:spPr>
          <a:xfrm>
            <a:off x="819150" y="3943350"/>
            <a:ext cx="171450" cy="152400"/>
          </a:xfrm>
          <a:prstGeom prst="rect">
            <a:avLst/>
          </a:prstGeom>
        </p:spPr>
      </p:pic>
      <p:pic>
        <p:nvPicPr>
          <p:cNvPr id="31" name="Picture 30" descr="image.png"/>
          <p:cNvPicPr>
            <a:picLocks noChangeAspect="1"/>
          </p:cNvPicPr>
          <p:nvPr/>
        </p:nvPicPr>
        <p:blipFill>
          <a:blip r:embed="rId6"/>
          <a:stretch>
            <a:fillRect/>
          </a:stretch>
        </p:blipFill>
        <p:spPr>
          <a:xfrm>
            <a:off x="6543675" y="3943350"/>
            <a:ext cx="190500" cy="152400"/>
          </a:xfrm>
          <a:prstGeom prst="rect">
            <a:avLst/>
          </a:prstGeom>
        </p:spPr>
      </p:pic>
      <p:sp>
        <p:nvSpPr>
          <p:cNvPr id="32" name="TextBox 31"/>
          <p:cNvSpPr txBox="1"/>
          <p:nvPr/>
        </p:nvSpPr>
        <p:spPr>
          <a:xfrm>
            <a:off x="381000" y="147637"/>
            <a:ext cx="1666875" cy="314325"/>
          </a:xfrm>
          <a:prstGeom prst="rect">
            <a:avLst/>
          </a:prstGeom>
          <a:noFill/>
        </p:spPr>
        <p:txBody>
          <a:bodyPr wrap="square" lIns="0" rIns="0" tIns="0" bIns="0" anchor="t">
            <a:spAutoFit/>
          </a:bodyPr>
          <a:lstStyle/>
          <a:p>
            <a:pPr algn="l"/>
            <a:r>
              <a:rPr b="1" sz="1650" i="0" u="none">
                <a:solidFill>
                  <a:srgbClr val="FFFFFF"/>
                </a:solidFill>
                <a:latin typeface="Poppins"/>
              </a:rPr>
              <a:t>APPLICATIONS</a:t>
            </a:r>
          </a:p>
        </p:txBody>
      </p:sp>
      <p:sp>
        <p:nvSpPr>
          <p:cNvPr id="33" name="TextBox 32"/>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34" name="TextBox 33"/>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35" name="TextBox 34"/>
          <p:cNvSpPr txBox="1"/>
          <p:nvPr/>
        </p:nvSpPr>
        <p:spPr>
          <a:xfrm>
            <a:off x="11334750" y="6605587"/>
            <a:ext cx="762000" cy="142875"/>
          </a:xfrm>
          <a:prstGeom prst="rect">
            <a:avLst/>
          </a:prstGeom>
          <a:noFill/>
        </p:spPr>
        <p:txBody>
          <a:bodyPr wrap="none" lIns="0" rIns="0" tIns="0" bIns="0" anchor="t">
            <a:spAutoFit/>
          </a:bodyPr>
          <a:lstStyle/>
          <a:p>
            <a:pPr algn="l"/>
            <a:r>
              <a:rPr b="0" sz="900" i="0" u="none">
                <a:solidFill>
                  <a:srgbClr val="FFFFFF"/>
                </a:solidFill>
                <a:latin typeface="Inter"/>
              </a:rPr>
              <a:t>SLIDE 13</a:t>
            </a:r>
          </a:p>
        </p:txBody>
      </p:sp>
      <p:sp>
        <p:nvSpPr>
          <p:cNvPr id="36" name="TextBox 35"/>
          <p:cNvSpPr txBox="1"/>
          <p:nvPr/>
        </p:nvSpPr>
        <p:spPr>
          <a:xfrm>
            <a:off x="1228725" y="2705100"/>
            <a:ext cx="5950743" cy="190500"/>
          </a:xfrm>
          <a:prstGeom prst="rect">
            <a:avLst/>
          </a:prstGeom>
          <a:noFill/>
        </p:spPr>
        <p:txBody>
          <a:bodyPr wrap="none" lIns="0" rIns="0" tIns="0" bIns="0" anchor="t">
            <a:spAutoFit/>
          </a:bodyPr>
          <a:lstStyle/>
          <a:p>
            <a:pPr algn="l"/>
            <a:r>
              <a:rPr b="1" sz="1200" i="0" u="none">
                <a:solidFill>
                  <a:srgbClr val="800000"/>
                </a:solidFill>
                <a:latin typeface="Inter"/>
              </a:rPr>
              <a:t>RO Purifier Quality Monitoring</a:t>
            </a:r>
          </a:p>
        </p:txBody>
      </p:sp>
      <p:sp>
        <p:nvSpPr>
          <p:cNvPr id="37" name="TextBox 36"/>
          <p:cNvSpPr txBox="1"/>
          <p:nvPr/>
        </p:nvSpPr>
        <p:spPr>
          <a:xfrm>
            <a:off x="1228725" y="2933700"/>
            <a:ext cx="4629150" cy="323850"/>
          </a:xfrm>
          <a:prstGeom prst="rect">
            <a:avLst/>
          </a:prstGeom>
          <a:noFill/>
        </p:spPr>
        <p:txBody>
          <a:bodyPr wrap="square" lIns="0" rIns="0" tIns="0" bIns="0" anchor="t">
            <a:spAutoFit/>
          </a:bodyPr>
          <a:lstStyle/>
          <a:p>
            <a:pPr algn="l"/>
            <a:r>
              <a:rPr b="0" sz="1050" i="0" u="none">
                <a:solidFill>
                  <a:srgbClr val="475569"/>
                </a:solidFill>
                <a:latin typeface="Inter"/>
              </a:rPr>
              <a:t>Continuous tracking of Reverse Osmosis system filter efficiency and output purity.</a:t>
            </a:r>
          </a:p>
        </p:txBody>
      </p:sp>
      <p:sp>
        <p:nvSpPr>
          <p:cNvPr id="38" name="TextBox 37"/>
          <p:cNvSpPr txBox="1"/>
          <p:nvPr/>
        </p:nvSpPr>
        <p:spPr>
          <a:xfrm>
            <a:off x="6962775" y="2705100"/>
            <a:ext cx="5229225" cy="190500"/>
          </a:xfrm>
          <a:prstGeom prst="rect">
            <a:avLst/>
          </a:prstGeom>
          <a:noFill/>
        </p:spPr>
        <p:txBody>
          <a:bodyPr wrap="none" lIns="0" rIns="0" tIns="0" bIns="0" anchor="t">
            <a:spAutoFit/>
          </a:bodyPr>
          <a:lstStyle/>
          <a:p>
            <a:pPr algn="l"/>
            <a:r>
              <a:rPr b="1" sz="1200" i="0" u="none">
                <a:solidFill>
                  <a:srgbClr val="800000"/>
                </a:solidFill>
                <a:latin typeface="Inter"/>
              </a:rPr>
              <a:t>Handheld Field Testing</a:t>
            </a:r>
          </a:p>
        </p:txBody>
      </p:sp>
      <p:sp>
        <p:nvSpPr>
          <p:cNvPr id="39" name="TextBox 38"/>
          <p:cNvSpPr txBox="1"/>
          <p:nvPr/>
        </p:nvSpPr>
        <p:spPr>
          <a:xfrm>
            <a:off x="6962775" y="2933700"/>
            <a:ext cx="5229225" cy="161925"/>
          </a:xfrm>
          <a:prstGeom prst="rect">
            <a:avLst/>
          </a:prstGeom>
          <a:noFill/>
        </p:spPr>
        <p:txBody>
          <a:bodyPr wrap="none" lIns="0" rIns="0" tIns="0" bIns="0" anchor="t">
            <a:spAutoFit/>
          </a:bodyPr>
          <a:lstStyle/>
          <a:p>
            <a:pPr algn="l"/>
            <a:r>
              <a:rPr b="0" sz="1050" i="0" u="none">
                <a:solidFill>
                  <a:srgbClr val="475569"/>
                </a:solidFill>
                <a:latin typeface="Inter"/>
              </a:rPr>
              <a:t>On-site testing of community wells, borewells, and rural water sources.</a:t>
            </a:r>
          </a:p>
        </p:txBody>
      </p:sp>
      <p:sp>
        <p:nvSpPr>
          <p:cNvPr id="40" name="TextBox 39"/>
          <p:cNvSpPr txBox="1"/>
          <p:nvPr/>
        </p:nvSpPr>
        <p:spPr>
          <a:xfrm>
            <a:off x="1228725" y="3848100"/>
            <a:ext cx="5950743" cy="190500"/>
          </a:xfrm>
          <a:prstGeom prst="rect">
            <a:avLst/>
          </a:prstGeom>
          <a:noFill/>
        </p:spPr>
        <p:txBody>
          <a:bodyPr wrap="none" lIns="0" rIns="0" tIns="0" bIns="0" anchor="t">
            <a:spAutoFit/>
          </a:bodyPr>
          <a:lstStyle/>
          <a:p>
            <a:pPr algn="l"/>
            <a:r>
              <a:rPr b="1" sz="1200" i="0" u="none">
                <a:solidFill>
                  <a:srgbClr val="800000"/>
                </a:solidFill>
                <a:latin typeface="Inter"/>
              </a:rPr>
              <a:t>Household Drinking Water Safety</a:t>
            </a:r>
          </a:p>
        </p:txBody>
      </p:sp>
      <p:sp>
        <p:nvSpPr>
          <p:cNvPr id="41" name="TextBox 40"/>
          <p:cNvSpPr txBox="1"/>
          <p:nvPr/>
        </p:nvSpPr>
        <p:spPr>
          <a:xfrm>
            <a:off x="1228725" y="4076700"/>
            <a:ext cx="4629150" cy="323850"/>
          </a:xfrm>
          <a:prstGeom prst="rect">
            <a:avLst/>
          </a:prstGeom>
          <a:noFill/>
        </p:spPr>
        <p:txBody>
          <a:bodyPr wrap="square" lIns="0" rIns="0" tIns="0" bIns="0" anchor="t">
            <a:spAutoFit/>
          </a:bodyPr>
          <a:lstStyle/>
          <a:p>
            <a:pPr algn="l"/>
            <a:r>
              <a:rPr b="0" sz="1050" i="0" u="none">
                <a:solidFill>
                  <a:srgbClr val="475569"/>
                </a:solidFill>
                <a:latin typeface="Inter"/>
              </a:rPr>
              <a:t>Real-time checks to prevent consumption of water with spiked mineral contaminant levels.</a:t>
            </a:r>
          </a:p>
        </p:txBody>
      </p:sp>
      <p:sp>
        <p:nvSpPr>
          <p:cNvPr id="42" name="TextBox 41"/>
          <p:cNvSpPr txBox="1"/>
          <p:nvPr/>
        </p:nvSpPr>
        <p:spPr>
          <a:xfrm>
            <a:off x="6962775" y="3848100"/>
            <a:ext cx="5229225" cy="190500"/>
          </a:xfrm>
          <a:prstGeom prst="rect">
            <a:avLst/>
          </a:prstGeom>
          <a:noFill/>
        </p:spPr>
        <p:txBody>
          <a:bodyPr wrap="none" lIns="0" rIns="0" tIns="0" bIns="0" anchor="t">
            <a:spAutoFit/>
          </a:bodyPr>
          <a:lstStyle/>
          <a:p>
            <a:pPr algn="l"/>
            <a:r>
              <a:rPr b="1" sz="1200" i="0" u="none">
                <a:solidFill>
                  <a:srgbClr val="800000"/>
                </a:solidFill>
                <a:latin typeface="Inter"/>
              </a:rPr>
              <a:t>Educational Demonstration Tool</a:t>
            </a:r>
          </a:p>
        </p:txBody>
      </p:sp>
      <p:sp>
        <p:nvSpPr>
          <p:cNvPr id="43" name="TextBox 42"/>
          <p:cNvSpPr txBox="1"/>
          <p:nvPr/>
        </p:nvSpPr>
        <p:spPr>
          <a:xfrm>
            <a:off x="6962775" y="4076700"/>
            <a:ext cx="4629150" cy="323850"/>
          </a:xfrm>
          <a:prstGeom prst="rect">
            <a:avLst/>
          </a:prstGeom>
          <a:noFill/>
        </p:spPr>
        <p:txBody>
          <a:bodyPr wrap="square" lIns="0" rIns="0" tIns="0" bIns="0" anchor="t">
            <a:spAutoFit/>
          </a:bodyPr>
          <a:lstStyle/>
          <a:p>
            <a:pPr algn="l"/>
            <a:r>
              <a:rPr b="0" sz="1050" i="0" u="none">
                <a:solidFill>
                  <a:srgbClr val="475569"/>
                </a:solidFill>
                <a:latin typeface="Inter"/>
              </a:rPr>
              <a:t>Effective prototype for laboratory projects, environmental awareness, and student learning.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505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505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648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91250" y="3648075"/>
            <a:ext cx="5543550" cy="9525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05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05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91225" y="2505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1250" y="3448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1250" y="2505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1250" y="2505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25275" y="2505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591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648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91225" y="3648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1250" y="4591050"/>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1250" y="3648075"/>
            <a:ext cx="55435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1250" y="3648075"/>
            <a:ext cx="47625" cy="9525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25275" y="3648075"/>
            <a:ext cx="9525" cy="9525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2"/>
          <a:stretch>
            <a:fillRect/>
          </a:stretch>
        </p:blipFill>
        <p:spPr>
          <a:xfrm>
            <a:off x="733425" y="2824162"/>
            <a:ext cx="190500" cy="304800"/>
          </a:xfrm>
          <a:prstGeom prst="rect">
            <a:avLst/>
          </a:prstGeom>
        </p:spPr>
      </p:pic>
      <p:pic>
        <p:nvPicPr>
          <p:cNvPr id="25" name="Picture 24" descr="image.png"/>
          <p:cNvPicPr>
            <a:picLocks noChangeAspect="1"/>
          </p:cNvPicPr>
          <p:nvPr/>
        </p:nvPicPr>
        <p:blipFill>
          <a:blip r:embed="rId3"/>
          <a:stretch>
            <a:fillRect/>
          </a:stretch>
        </p:blipFill>
        <p:spPr>
          <a:xfrm>
            <a:off x="6467475" y="2824162"/>
            <a:ext cx="304800" cy="304800"/>
          </a:xfrm>
          <a:prstGeom prst="rect">
            <a:avLst/>
          </a:prstGeom>
        </p:spPr>
      </p:pic>
      <p:pic>
        <p:nvPicPr>
          <p:cNvPr id="26" name="Picture 25" descr="image.png"/>
          <p:cNvPicPr>
            <a:picLocks noChangeAspect="1"/>
          </p:cNvPicPr>
          <p:nvPr/>
        </p:nvPicPr>
        <p:blipFill>
          <a:blip r:embed="rId4"/>
          <a:stretch>
            <a:fillRect/>
          </a:stretch>
        </p:blipFill>
        <p:spPr>
          <a:xfrm>
            <a:off x="733425" y="3967162"/>
            <a:ext cx="381000" cy="304800"/>
          </a:xfrm>
          <a:prstGeom prst="rect">
            <a:avLst/>
          </a:prstGeom>
        </p:spPr>
      </p:pic>
      <p:pic>
        <p:nvPicPr>
          <p:cNvPr id="27" name="Picture 26" descr="image.png"/>
          <p:cNvPicPr>
            <a:picLocks noChangeAspect="1"/>
          </p:cNvPicPr>
          <p:nvPr/>
        </p:nvPicPr>
        <p:blipFill>
          <a:blip r:embed="rId5"/>
          <a:stretch>
            <a:fillRect/>
          </a:stretch>
        </p:blipFill>
        <p:spPr>
          <a:xfrm>
            <a:off x="6467475" y="3967162"/>
            <a:ext cx="381000" cy="304800"/>
          </a:xfrm>
          <a:prstGeom prst="rect">
            <a:avLst/>
          </a:prstGeom>
        </p:spPr>
      </p:pic>
      <p:sp>
        <p:nvSpPr>
          <p:cNvPr id="28" name="TextBox 27"/>
          <p:cNvSpPr txBox="1"/>
          <p:nvPr/>
        </p:nvSpPr>
        <p:spPr>
          <a:xfrm>
            <a:off x="381000" y="147637"/>
            <a:ext cx="2057400" cy="314325"/>
          </a:xfrm>
          <a:prstGeom prst="rect">
            <a:avLst/>
          </a:prstGeom>
          <a:noFill/>
        </p:spPr>
        <p:txBody>
          <a:bodyPr wrap="square" lIns="0" rIns="0" tIns="0" bIns="0" anchor="t">
            <a:spAutoFit/>
          </a:bodyPr>
          <a:lstStyle/>
          <a:p>
            <a:pPr algn="l"/>
            <a:r>
              <a:rPr b="1" sz="1650" i="0" u="none">
                <a:solidFill>
                  <a:srgbClr val="FFFFFF"/>
                </a:solidFill>
                <a:latin typeface="Poppins"/>
              </a:rPr>
              <a:t>KEY ADVANTAGES</a:t>
            </a:r>
          </a:p>
        </p:txBody>
      </p:sp>
      <p:sp>
        <p:nvSpPr>
          <p:cNvPr id="29" name="TextBox 2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30" name="TextBox 2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31" name="TextBox 30"/>
          <p:cNvSpPr txBox="1"/>
          <p:nvPr/>
        </p:nvSpPr>
        <p:spPr>
          <a:xfrm>
            <a:off x="11334750" y="6605587"/>
            <a:ext cx="762000" cy="142875"/>
          </a:xfrm>
          <a:prstGeom prst="rect">
            <a:avLst/>
          </a:prstGeom>
          <a:noFill/>
        </p:spPr>
        <p:txBody>
          <a:bodyPr wrap="none" lIns="0" rIns="0" tIns="0" bIns="0" anchor="t">
            <a:spAutoFit/>
          </a:bodyPr>
          <a:lstStyle/>
          <a:p>
            <a:pPr algn="l"/>
            <a:r>
              <a:rPr b="0" sz="900" i="0" u="none">
                <a:solidFill>
                  <a:srgbClr val="FFFFFF"/>
                </a:solidFill>
                <a:latin typeface="Inter"/>
              </a:rPr>
              <a:t>SLIDE 14</a:t>
            </a:r>
          </a:p>
        </p:txBody>
      </p:sp>
      <p:sp>
        <p:nvSpPr>
          <p:cNvPr id="32" name="TextBox 31"/>
          <p:cNvSpPr txBox="1"/>
          <p:nvPr/>
        </p:nvSpPr>
        <p:spPr>
          <a:xfrm>
            <a:off x="1076325" y="2705100"/>
            <a:ext cx="6150768" cy="190500"/>
          </a:xfrm>
          <a:prstGeom prst="rect">
            <a:avLst/>
          </a:prstGeom>
          <a:noFill/>
        </p:spPr>
        <p:txBody>
          <a:bodyPr wrap="none" lIns="0" rIns="0" tIns="0" bIns="0" anchor="t">
            <a:spAutoFit/>
          </a:bodyPr>
          <a:lstStyle/>
          <a:p>
            <a:pPr algn="l"/>
            <a:r>
              <a:rPr b="1" sz="1275" i="0" u="none">
                <a:solidFill>
                  <a:srgbClr val="800000"/>
                </a:solidFill>
                <a:latin typeface="Inter"/>
              </a:rPr>
              <a:t>Ultra Low Cost (&lt; ₹800)</a:t>
            </a:r>
          </a:p>
        </p:txBody>
      </p:sp>
      <p:sp>
        <p:nvSpPr>
          <p:cNvPr id="33" name="TextBox 32"/>
          <p:cNvSpPr txBox="1"/>
          <p:nvPr/>
        </p:nvSpPr>
        <p:spPr>
          <a:xfrm>
            <a:off x="1076325" y="2933700"/>
            <a:ext cx="4781550" cy="323850"/>
          </a:xfrm>
          <a:prstGeom prst="rect">
            <a:avLst/>
          </a:prstGeom>
          <a:noFill/>
        </p:spPr>
        <p:txBody>
          <a:bodyPr wrap="square" lIns="0" rIns="0" tIns="0" bIns="0" anchor="t">
            <a:spAutoFit/>
          </a:bodyPr>
          <a:lstStyle/>
          <a:p>
            <a:pPr algn="l"/>
            <a:r>
              <a:rPr b="0" sz="1050" i="0" u="none">
                <a:solidFill>
                  <a:srgbClr val="475569"/>
                </a:solidFill>
                <a:latin typeface="Inter"/>
              </a:rPr>
              <a:t>Total build cost under ₹800, making it accessible for wide household adoption.</a:t>
            </a:r>
          </a:p>
        </p:txBody>
      </p:sp>
      <p:sp>
        <p:nvSpPr>
          <p:cNvPr id="34" name="TextBox 33"/>
          <p:cNvSpPr txBox="1"/>
          <p:nvPr/>
        </p:nvSpPr>
        <p:spPr>
          <a:xfrm>
            <a:off x="6924675" y="2705100"/>
            <a:ext cx="5267325" cy="190500"/>
          </a:xfrm>
          <a:prstGeom prst="rect">
            <a:avLst/>
          </a:prstGeom>
          <a:noFill/>
        </p:spPr>
        <p:txBody>
          <a:bodyPr wrap="none" lIns="0" rIns="0" tIns="0" bIns="0" anchor="t">
            <a:spAutoFit/>
          </a:bodyPr>
          <a:lstStyle/>
          <a:p>
            <a:pPr algn="l"/>
            <a:r>
              <a:rPr b="1" sz="1275" i="0" u="none">
                <a:solidFill>
                  <a:srgbClr val="800000"/>
                </a:solidFill>
                <a:latin typeface="Inter"/>
              </a:rPr>
              <a:t>High Portability</a:t>
            </a:r>
          </a:p>
        </p:txBody>
      </p:sp>
      <p:sp>
        <p:nvSpPr>
          <p:cNvPr id="35" name="TextBox 34"/>
          <p:cNvSpPr txBox="1"/>
          <p:nvPr/>
        </p:nvSpPr>
        <p:spPr>
          <a:xfrm>
            <a:off x="6924675" y="2933700"/>
            <a:ext cx="4667250" cy="323850"/>
          </a:xfrm>
          <a:prstGeom prst="rect">
            <a:avLst/>
          </a:prstGeom>
          <a:noFill/>
        </p:spPr>
        <p:txBody>
          <a:bodyPr wrap="square" lIns="0" rIns="0" tIns="0" bIns="0" anchor="t">
            <a:spAutoFit/>
          </a:bodyPr>
          <a:lstStyle/>
          <a:p>
            <a:pPr algn="l"/>
            <a:r>
              <a:rPr b="0" sz="1050" i="0" u="none">
                <a:solidFill>
                  <a:srgbClr val="475569"/>
                </a:solidFill>
                <a:latin typeface="Inter"/>
              </a:rPr>
              <a:t>Compact and battery-operable design using USB 5V power sources for easy field carrying.</a:t>
            </a:r>
          </a:p>
        </p:txBody>
      </p:sp>
      <p:sp>
        <p:nvSpPr>
          <p:cNvPr id="36" name="TextBox 35"/>
          <p:cNvSpPr txBox="1"/>
          <p:nvPr/>
        </p:nvSpPr>
        <p:spPr>
          <a:xfrm>
            <a:off x="1266825" y="3848100"/>
            <a:ext cx="5900737" cy="190500"/>
          </a:xfrm>
          <a:prstGeom prst="rect">
            <a:avLst/>
          </a:prstGeom>
          <a:noFill/>
        </p:spPr>
        <p:txBody>
          <a:bodyPr wrap="none" lIns="0" rIns="0" tIns="0" bIns="0" anchor="t">
            <a:spAutoFit/>
          </a:bodyPr>
          <a:lstStyle/>
          <a:p>
            <a:pPr algn="l"/>
            <a:r>
              <a:rPr b="1" sz="1275" i="0" u="none">
                <a:solidFill>
                  <a:srgbClr val="800000"/>
                </a:solidFill>
                <a:latin typeface="Inter"/>
              </a:rPr>
              <a:t>Real-Time Digital Readout &amp; IoT</a:t>
            </a:r>
          </a:p>
        </p:txBody>
      </p:sp>
      <p:sp>
        <p:nvSpPr>
          <p:cNvPr id="37" name="TextBox 36"/>
          <p:cNvSpPr txBox="1"/>
          <p:nvPr/>
        </p:nvSpPr>
        <p:spPr>
          <a:xfrm>
            <a:off x="1266825" y="4076700"/>
            <a:ext cx="4591050" cy="323850"/>
          </a:xfrm>
          <a:prstGeom prst="rect">
            <a:avLst/>
          </a:prstGeom>
          <a:noFill/>
        </p:spPr>
        <p:txBody>
          <a:bodyPr wrap="square" lIns="0" rIns="0" tIns="0" bIns="0" anchor="t">
            <a:spAutoFit/>
          </a:bodyPr>
          <a:lstStyle/>
          <a:p>
            <a:pPr algn="l"/>
            <a:r>
              <a:rPr b="0" sz="1050" i="0" u="none">
                <a:solidFill>
                  <a:srgbClr val="475569"/>
                </a:solidFill>
                <a:latin typeface="Inter"/>
              </a:rPr>
              <a:t>Instantaneous digital readings paired with ESP32 wireless telemetry capabilities.</a:t>
            </a:r>
          </a:p>
        </p:txBody>
      </p:sp>
      <p:sp>
        <p:nvSpPr>
          <p:cNvPr id="38" name="TextBox 37"/>
          <p:cNvSpPr txBox="1"/>
          <p:nvPr/>
        </p:nvSpPr>
        <p:spPr>
          <a:xfrm>
            <a:off x="7000875" y="3848100"/>
            <a:ext cx="5191125" cy="190500"/>
          </a:xfrm>
          <a:prstGeom prst="rect">
            <a:avLst/>
          </a:prstGeom>
          <a:noFill/>
        </p:spPr>
        <p:txBody>
          <a:bodyPr wrap="none" lIns="0" rIns="0" tIns="0" bIns="0" anchor="t">
            <a:spAutoFit/>
          </a:bodyPr>
          <a:lstStyle/>
          <a:p>
            <a:pPr algn="l"/>
            <a:r>
              <a:rPr b="1" sz="1275" i="0" u="none">
                <a:solidFill>
                  <a:srgbClr val="800000"/>
                </a:solidFill>
                <a:latin typeface="Inter"/>
              </a:rPr>
              <a:t>Simple Operation</a:t>
            </a:r>
          </a:p>
        </p:txBody>
      </p:sp>
      <p:sp>
        <p:nvSpPr>
          <p:cNvPr id="39" name="TextBox 38"/>
          <p:cNvSpPr txBox="1"/>
          <p:nvPr/>
        </p:nvSpPr>
        <p:spPr>
          <a:xfrm>
            <a:off x="7000875" y="4076700"/>
            <a:ext cx="4591050" cy="323850"/>
          </a:xfrm>
          <a:prstGeom prst="rect">
            <a:avLst/>
          </a:prstGeom>
          <a:noFill/>
        </p:spPr>
        <p:txBody>
          <a:bodyPr wrap="square" lIns="0" rIns="0" tIns="0" bIns="0" anchor="t">
            <a:spAutoFit/>
          </a:bodyPr>
          <a:lstStyle/>
          <a:p>
            <a:pPr algn="l"/>
            <a:r>
              <a:rPr b="0" sz="1050" i="0" u="none">
                <a:solidFill>
                  <a:srgbClr val="475569"/>
                </a:solidFill>
                <a:latin typeface="Inter"/>
              </a:rPr>
              <a:t>Plug-and-play design requiring zero technical training or specialized knowledge.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74068"/>
            <a:ext cx="11277600" cy="1362075"/>
          </a:xfrm>
          <a:prstGeom prst="roundRect">
            <a:avLst>
              <a:gd name="adj" fmla="val 559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3626643"/>
            <a:ext cx="11277600" cy="1404937"/>
          </a:xfrm>
          <a:prstGeom prst="roundRect">
            <a:avLst>
              <a:gd name="adj" fmla="val 542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426618"/>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74068"/>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074068"/>
            <a:ext cx="47625" cy="136207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725275" y="2074068"/>
            <a:ext cx="9525" cy="13620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022056"/>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626643"/>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26643"/>
            <a:ext cx="47625" cy="1404937"/>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725275" y="3626643"/>
            <a:ext cx="9525" cy="14049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000" y="147637"/>
            <a:ext cx="4624387" cy="314325"/>
          </a:xfrm>
          <a:prstGeom prst="rect">
            <a:avLst/>
          </a:prstGeom>
          <a:noFill/>
        </p:spPr>
        <p:txBody>
          <a:bodyPr wrap="square" lIns="0" rIns="0" tIns="0" bIns="0" anchor="t">
            <a:spAutoFit/>
          </a:bodyPr>
          <a:lstStyle/>
          <a:p>
            <a:pPr algn="l"/>
            <a:r>
              <a:rPr b="1" sz="1650" i="0" u="none">
                <a:solidFill>
                  <a:srgbClr val="FFFFFF"/>
                </a:solidFill>
                <a:latin typeface="Poppins"/>
              </a:rPr>
              <a:t>CONCLUSION AND FUTURE ENHANCEMENT</a:t>
            </a:r>
          </a:p>
        </p:txBody>
      </p:sp>
      <p:sp>
        <p:nvSpPr>
          <p:cNvPr id="15" name="TextBox 14"/>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16" name="TextBox 15"/>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17" name="TextBox 16"/>
          <p:cNvSpPr txBox="1"/>
          <p:nvPr/>
        </p:nvSpPr>
        <p:spPr>
          <a:xfrm>
            <a:off x="11344275" y="6605587"/>
            <a:ext cx="752475" cy="142875"/>
          </a:xfrm>
          <a:prstGeom prst="rect">
            <a:avLst/>
          </a:prstGeom>
          <a:noFill/>
        </p:spPr>
        <p:txBody>
          <a:bodyPr wrap="none" lIns="0" rIns="0" tIns="0" bIns="0" anchor="t">
            <a:spAutoFit/>
          </a:bodyPr>
          <a:lstStyle/>
          <a:p>
            <a:pPr algn="l"/>
            <a:r>
              <a:rPr b="0" sz="900" i="0" u="none">
                <a:solidFill>
                  <a:srgbClr val="FFFFFF"/>
                </a:solidFill>
                <a:latin typeface="Inter"/>
              </a:rPr>
              <a:t>SLIDE 15</a:t>
            </a:r>
          </a:p>
        </p:txBody>
      </p:sp>
      <p:sp>
        <p:nvSpPr>
          <p:cNvPr id="18" name="TextBox 17"/>
          <p:cNvSpPr txBox="1"/>
          <p:nvPr/>
        </p:nvSpPr>
        <p:spPr>
          <a:xfrm>
            <a:off x="733425" y="2274093"/>
            <a:ext cx="11458575" cy="200025"/>
          </a:xfrm>
          <a:prstGeom prst="rect">
            <a:avLst/>
          </a:prstGeom>
          <a:noFill/>
        </p:spPr>
        <p:txBody>
          <a:bodyPr wrap="none" lIns="0" rIns="0" tIns="0" bIns="0" anchor="t">
            <a:spAutoFit/>
          </a:bodyPr>
          <a:lstStyle/>
          <a:p>
            <a:pPr algn="l"/>
            <a:r>
              <a:rPr b="1" sz="1350" i="0" u="none">
                <a:solidFill>
                  <a:srgbClr val="800000"/>
                </a:solidFill>
                <a:latin typeface="Inter"/>
              </a:rPr>
              <a:t>Conclusion</a:t>
            </a:r>
          </a:p>
        </p:txBody>
      </p:sp>
      <p:sp>
        <p:nvSpPr>
          <p:cNvPr id="19" name="TextBox 18"/>
          <p:cNvSpPr txBox="1"/>
          <p:nvPr/>
        </p:nvSpPr>
        <p:spPr>
          <a:xfrm>
            <a:off x="733425" y="2550318"/>
            <a:ext cx="10858500" cy="685800"/>
          </a:xfrm>
          <a:prstGeom prst="rect">
            <a:avLst/>
          </a:prstGeom>
          <a:noFill/>
        </p:spPr>
        <p:txBody>
          <a:bodyPr wrap="square" lIns="0" rIns="0" tIns="0" bIns="0" anchor="t">
            <a:spAutoFit/>
          </a:bodyPr>
          <a:lstStyle/>
          <a:p>
            <a:pPr algn="l">
              <a:lnSpc>
                <a:spcPts val="1800"/>
              </a:lnSpc>
            </a:pPr>
            <a:r>
              <a:rPr b="0" sz="1125" i="0" u="none">
                <a:solidFill>
                  <a:srgbClr val="334155"/>
                </a:solidFill>
                <a:latin typeface="Inter"/>
              </a:rPr>
              <a:t>The IoT Based Water Purity Testing System successfully offers a continuous, reliable, and low-cost mechanism for monitoring critical water parameters. By integrating pH, Turbidity, TDS, and Temperature probes with NodeMCU and cloud dashboards, the system eliminates human error in sample gathering and provides proactive contamination warnings.</a:t>
            </a:r>
          </a:p>
        </p:txBody>
      </p:sp>
      <p:sp>
        <p:nvSpPr>
          <p:cNvPr id="20" name="TextBox 19"/>
          <p:cNvSpPr txBox="1"/>
          <p:nvPr/>
        </p:nvSpPr>
        <p:spPr>
          <a:xfrm>
            <a:off x="733425" y="3826668"/>
            <a:ext cx="11458575" cy="200025"/>
          </a:xfrm>
          <a:prstGeom prst="rect">
            <a:avLst/>
          </a:prstGeom>
          <a:noFill/>
        </p:spPr>
        <p:txBody>
          <a:bodyPr wrap="none" lIns="0" rIns="0" tIns="0" bIns="0" anchor="t">
            <a:spAutoFit/>
          </a:bodyPr>
          <a:lstStyle/>
          <a:p>
            <a:pPr algn="l"/>
            <a:r>
              <a:rPr b="1" sz="1350" i="0" u="none">
                <a:solidFill>
                  <a:srgbClr val="800000"/>
                </a:solidFill>
                <a:latin typeface="Inter"/>
              </a:rPr>
              <a:t>Future Enhancements</a:t>
            </a:r>
          </a:p>
        </p:txBody>
      </p:sp>
      <p:sp>
        <p:nvSpPr>
          <p:cNvPr id="21" name="TextBox 20"/>
          <p:cNvSpPr txBox="1"/>
          <p:nvPr/>
        </p:nvSpPr>
        <p:spPr>
          <a:xfrm>
            <a:off x="847725" y="4100512"/>
            <a:ext cx="76200" cy="247650"/>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2" name="TextBox 21"/>
          <p:cNvSpPr txBox="1"/>
          <p:nvPr/>
        </p:nvSpPr>
        <p:spPr>
          <a:xfrm>
            <a:off x="923925" y="4102893"/>
            <a:ext cx="11268075" cy="242887"/>
          </a:xfrm>
          <a:prstGeom prst="rect">
            <a:avLst/>
          </a:prstGeom>
          <a:noFill/>
        </p:spPr>
        <p:txBody>
          <a:bodyPr wrap="none" lIns="76200" rIns="0" tIns="0" bIns="0" anchor="t">
            <a:spAutoFit/>
          </a:bodyPr>
          <a:lstStyle/>
          <a:p>
            <a:pPr algn="l">
              <a:lnSpc>
                <a:spcPts val="1912"/>
              </a:lnSpc>
            </a:pPr>
            <a:r>
              <a:rPr b="0" sz="1125" i="0" u="none">
                <a:solidFill>
                  <a:srgbClr val="334155"/>
                </a:solidFill>
                <a:latin typeface="Inter"/>
              </a:rPr>
              <a:t>Integration of machine learning algorithms (LSTM) for predictive water purity trends.</a:t>
            </a:r>
          </a:p>
        </p:txBody>
      </p:sp>
      <p:sp>
        <p:nvSpPr>
          <p:cNvPr id="23" name="TextBox 22"/>
          <p:cNvSpPr txBox="1"/>
          <p:nvPr/>
        </p:nvSpPr>
        <p:spPr>
          <a:xfrm>
            <a:off x="847725" y="4343400"/>
            <a:ext cx="76200" cy="247650"/>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4" name="TextBox 23"/>
          <p:cNvSpPr txBox="1"/>
          <p:nvPr/>
        </p:nvSpPr>
        <p:spPr>
          <a:xfrm>
            <a:off x="923925" y="4345781"/>
            <a:ext cx="11268075" cy="242887"/>
          </a:xfrm>
          <a:prstGeom prst="rect">
            <a:avLst/>
          </a:prstGeom>
          <a:noFill/>
        </p:spPr>
        <p:txBody>
          <a:bodyPr wrap="none" lIns="76200" rIns="0" tIns="0" bIns="0" anchor="t">
            <a:spAutoFit/>
          </a:bodyPr>
          <a:lstStyle/>
          <a:p>
            <a:pPr algn="l">
              <a:lnSpc>
                <a:spcPts val="1912"/>
              </a:lnSpc>
            </a:pPr>
            <a:r>
              <a:rPr b="0" sz="1125" i="0" u="none">
                <a:solidFill>
                  <a:srgbClr val="334155"/>
                </a:solidFill>
                <a:latin typeface="Inter"/>
              </a:rPr>
              <a:t>Addition of heavy metal (lead/arsenic) spectral analysis sensors.</a:t>
            </a:r>
          </a:p>
        </p:txBody>
      </p:sp>
      <p:sp>
        <p:nvSpPr>
          <p:cNvPr id="25" name="TextBox 24"/>
          <p:cNvSpPr txBox="1"/>
          <p:nvPr/>
        </p:nvSpPr>
        <p:spPr>
          <a:xfrm>
            <a:off x="847725" y="4586287"/>
            <a:ext cx="76200" cy="247650"/>
          </a:xfrm>
          <a:prstGeom prst="rect">
            <a:avLst/>
          </a:prstGeom>
          <a:noFill/>
        </p:spPr>
        <p:txBody>
          <a:bodyPr wrap="none" lIns="0" rIns="0" tIns="0" bIns="0" anchor="t">
            <a:spAutoFit/>
          </a:bodyPr>
          <a:lstStyle/>
          <a:p>
            <a:pPr algn="l"/>
            <a:r>
              <a:rPr b="0" sz="1125" i="0" u="none">
                <a:solidFill>
                  <a:srgbClr val="334155"/>
                </a:solidFill>
                <a:latin typeface="Inter"/>
              </a:rPr>
              <a:t>•</a:t>
            </a:r>
          </a:p>
        </p:txBody>
      </p:sp>
      <p:sp>
        <p:nvSpPr>
          <p:cNvPr id="26" name="TextBox 25"/>
          <p:cNvSpPr txBox="1"/>
          <p:nvPr/>
        </p:nvSpPr>
        <p:spPr>
          <a:xfrm>
            <a:off x="923925" y="4588668"/>
            <a:ext cx="11268075" cy="242887"/>
          </a:xfrm>
          <a:prstGeom prst="rect">
            <a:avLst/>
          </a:prstGeom>
          <a:noFill/>
        </p:spPr>
        <p:txBody>
          <a:bodyPr wrap="none" lIns="76200" rIns="0" tIns="0" bIns="0" anchor="t">
            <a:spAutoFit/>
          </a:bodyPr>
          <a:lstStyle/>
          <a:p>
            <a:pPr algn="l">
              <a:lnSpc>
                <a:spcPts val="1912"/>
              </a:lnSpc>
            </a:pPr>
            <a:r>
              <a:rPr b="0" sz="1125" i="0" u="none">
                <a:solidFill>
                  <a:srgbClr val="334155"/>
                </a:solidFill>
                <a:latin typeface="Inter"/>
              </a:rPr>
              <a:t>Implementation of solar power harvesting with LoRaWAN wireless protocol for remote rural deployments.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762125"/>
            <a:ext cx="11277600" cy="781050"/>
          </a:xfrm>
          <a:prstGeom prst="roundRect">
            <a:avLst>
              <a:gd name="adj" fmla="val 97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695575"/>
            <a:ext cx="11277600" cy="781050"/>
          </a:xfrm>
          <a:prstGeom prst="roundRect">
            <a:avLst>
              <a:gd name="adj" fmla="val 97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3629025"/>
            <a:ext cx="11277600" cy="781050"/>
          </a:xfrm>
          <a:prstGeom prst="roundRect">
            <a:avLst>
              <a:gd name="adj" fmla="val 97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4562475"/>
            <a:ext cx="11277600" cy="781050"/>
          </a:xfrm>
          <a:prstGeom prst="roundRect">
            <a:avLst>
              <a:gd name="adj" fmla="val 97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3425" y="1962150"/>
            <a:ext cx="1333500" cy="381000"/>
          </a:xfrm>
          <a:prstGeom prst="roundRect">
            <a:avLst>
              <a:gd name="adj" fmla="val 15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336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76212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62125"/>
            <a:ext cx="47625" cy="7810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725275" y="1762125"/>
            <a:ext cx="9525" cy="781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3425" y="2895600"/>
            <a:ext cx="1333500" cy="381000"/>
          </a:xfrm>
          <a:prstGeom prst="roundRect">
            <a:avLst>
              <a:gd name="adj" fmla="val 15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6710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6955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5575"/>
            <a:ext cx="47625" cy="7810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25275" y="2695575"/>
            <a:ext cx="9525" cy="781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3425" y="3829050"/>
            <a:ext cx="1333500" cy="381000"/>
          </a:xfrm>
          <a:prstGeom prst="roundRect">
            <a:avLst>
              <a:gd name="adj" fmla="val 15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40055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62902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629025"/>
            <a:ext cx="47625" cy="7810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725275" y="3629025"/>
            <a:ext cx="9525" cy="781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3425" y="4762500"/>
            <a:ext cx="1333500" cy="381000"/>
          </a:xfrm>
          <a:prstGeom prst="roundRect">
            <a:avLst>
              <a:gd name="adj" fmla="val 15000"/>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334000"/>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562475"/>
            <a:ext cx="11277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562475"/>
            <a:ext cx="47625" cy="7810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725275" y="4562475"/>
            <a:ext cx="9525" cy="781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1000" y="147637"/>
            <a:ext cx="5110162" cy="314325"/>
          </a:xfrm>
          <a:prstGeom prst="rect">
            <a:avLst/>
          </a:prstGeom>
          <a:noFill/>
        </p:spPr>
        <p:txBody>
          <a:bodyPr wrap="square" lIns="0" rIns="0" tIns="0" bIns="0" anchor="t">
            <a:spAutoFit/>
          </a:bodyPr>
          <a:lstStyle/>
          <a:p>
            <a:pPr algn="l"/>
            <a:r>
              <a:rPr b="1" sz="1650" i="0" u="none">
                <a:solidFill>
                  <a:srgbClr val="FFFFFF"/>
                </a:solidFill>
                <a:latin typeface="Poppins"/>
              </a:rPr>
              <a:t>SDG / PO / PSO MAPPING WITH JUSTIFICATION</a:t>
            </a:r>
          </a:p>
        </p:txBody>
      </p:sp>
      <p:sp>
        <p:nvSpPr>
          <p:cNvPr id="29" name="TextBox 28"/>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30" name="TextBox 29"/>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31" name="TextBox 30"/>
          <p:cNvSpPr txBox="1"/>
          <p:nvPr/>
        </p:nvSpPr>
        <p:spPr>
          <a:xfrm>
            <a:off x="11334750" y="6605587"/>
            <a:ext cx="762000" cy="142875"/>
          </a:xfrm>
          <a:prstGeom prst="rect">
            <a:avLst/>
          </a:prstGeom>
          <a:noFill/>
        </p:spPr>
        <p:txBody>
          <a:bodyPr wrap="none" lIns="0" rIns="0" tIns="0" bIns="0" anchor="t">
            <a:spAutoFit/>
          </a:bodyPr>
          <a:lstStyle/>
          <a:p>
            <a:pPr algn="l"/>
            <a:r>
              <a:rPr b="0" sz="900" i="0" u="none">
                <a:solidFill>
                  <a:srgbClr val="FFFFFF"/>
                </a:solidFill>
                <a:latin typeface="Inter"/>
              </a:rPr>
              <a:t>SLIDE 16</a:t>
            </a:r>
          </a:p>
        </p:txBody>
      </p:sp>
      <p:sp>
        <p:nvSpPr>
          <p:cNvPr id="32" name="TextBox 31"/>
          <p:cNvSpPr txBox="1"/>
          <p:nvPr/>
        </p:nvSpPr>
        <p:spPr>
          <a:xfrm>
            <a:off x="719137" y="2057400"/>
            <a:ext cx="1362075" cy="190500"/>
          </a:xfrm>
          <a:prstGeom prst="rect">
            <a:avLst/>
          </a:prstGeom>
          <a:noFill/>
        </p:spPr>
        <p:txBody>
          <a:bodyPr wrap="square" lIns="0" rIns="0" tIns="0" bIns="0" anchor="t">
            <a:spAutoFit/>
          </a:bodyPr>
          <a:lstStyle/>
          <a:p>
            <a:pPr algn="ctr"/>
            <a:r>
              <a:rPr b="1" sz="1200" i="0" u="none">
                <a:solidFill>
                  <a:srgbClr val="FFFFFF"/>
                </a:solidFill>
                <a:latin typeface="Inter"/>
              </a:rPr>
              <a:t>SDG 6</a:t>
            </a:r>
          </a:p>
        </p:txBody>
      </p:sp>
      <p:sp>
        <p:nvSpPr>
          <p:cNvPr id="33" name="TextBox 32"/>
          <p:cNvSpPr txBox="1"/>
          <p:nvPr/>
        </p:nvSpPr>
        <p:spPr>
          <a:xfrm>
            <a:off x="2219325" y="2057400"/>
            <a:ext cx="9972675" cy="190500"/>
          </a:xfrm>
          <a:prstGeom prst="rect">
            <a:avLst/>
          </a:prstGeom>
          <a:noFill/>
        </p:spPr>
        <p:txBody>
          <a:bodyPr wrap="none" lIns="0" rIns="0" tIns="0" bIns="0" anchor="t">
            <a:spAutoFit/>
          </a:bodyPr>
          <a:lstStyle/>
          <a:p>
            <a:pPr algn="l"/>
            <a:r>
              <a:rPr b="1" sz="1125" i="0" u="none">
                <a:solidFill>
                  <a:srgbClr val="800000"/>
                </a:solidFill>
                <a:latin typeface="Inter"/>
              </a:rPr>
              <a:t>Clean Water &amp; Sanitation:</a:t>
            </a:r>
            <a:r>
              <a:rPr b="1" sz="1125" i="0" u="none">
                <a:solidFill>
                  <a:srgbClr val="800000"/>
                </a:solidFill>
                <a:latin typeface="Inter"/>
              </a:rPr>
              <a:t> </a:t>
            </a:r>
            <a:r>
              <a:rPr b="1" sz="1050" i="0" u="none">
                <a:solidFill>
                  <a:srgbClr val="475569"/>
                </a:solidFill>
                <a:latin typeface="Inter"/>
              </a:rPr>
              <a:t> Direct alignment by continuously measuring drinking water purity and detecting toxic contaminants.</a:t>
            </a:r>
          </a:p>
        </p:txBody>
      </p:sp>
      <p:sp>
        <p:nvSpPr>
          <p:cNvPr id="34" name="TextBox 33"/>
          <p:cNvSpPr txBox="1"/>
          <p:nvPr/>
        </p:nvSpPr>
        <p:spPr>
          <a:xfrm>
            <a:off x="719137" y="2990850"/>
            <a:ext cx="1362075" cy="190500"/>
          </a:xfrm>
          <a:prstGeom prst="rect">
            <a:avLst/>
          </a:prstGeom>
          <a:noFill/>
        </p:spPr>
        <p:txBody>
          <a:bodyPr wrap="square" lIns="0" rIns="0" tIns="0" bIns="0" anchor="t">
            <a:spAutoFit/>
          </a:bodyPr>
          <a:lstStyle/>
          <a:p>
            <a:pPr algn="ctr"/>
            <a:r>
              <a:rPr b="1" sz="1200" i="0" u="none">
                <a:solidFill>
                  <a:srgbClr val="FFFFFF"/>
                </a:solidFill>
                <a:latin typeface="Inter"/>
              </a:rPr>
              <a:t>PO 1 &amp; PO 3</a:t>
            </a:r>
          </a:p>
        </p:txBody>
      </p:sp>
      <p:sp>
        <p:nvSpPr>
          <p:cNvPr id="35" name="TextBox 34"/>
          <p:cNvSpPr txBox="1"/>
          <p:nvPr/>
        </p:nvSpPr>
        <p:spPr>
          <a:xfrm>
            <a:off x="2219325" y="2895600"/>
            <a:ext cx="9372600" cy="381000"/>
          </a:xfrm>
          <a:prstGeom prst="rect">
            <a:avLst/>
          </a:prstGeom>
          <a:noFill/>
        </p:spPr>
        <p:txBody>
          <a:bodyPr wrap="square" lIns="0" rIns="0" tIns="0" bIns="0" anchor="t">
            <a:spAutoFit/>
          </a:bodyPr>
          <a:lstStyle/>
          <a:p>
            <a:pPr algn="l"/>
            <a:r>
              <a:rPr b="1" sz="1125" i="0" u="none">
                <a:solidFill>
                  <a:srgbClr val="800000"/>
                </a:solidFill>
                <a:latin typeface="Inter"/>
              </a:rPr>
              <a:t>Engineering Knowledge &amp; Design Solution:</a:t>
            </a:r>
            <a:r>
              <a:rPr b="1" sz="1125" i="0" u="none">
                <a:solidFill>
                  <a:srgbClr val="800000"/>
                </a:solidFill>
                <a:latin typeface="Inter"/>
              </a:rPr>
              <a:t> </a:t>
            </a:r>
            <a:r>
              <a:rPr b="1" sz="1050" i="0" u="none">
                <a:solidFill>
                  <a:srgbClr val="475569"/>
                </a:solidFill>
                <a:latin typeface="Inter"/>
              </a:rPr>
              <a:t> Applies electronic circuits, sensor signal conditioning, and embedded microcontroller firmware design principles.</a:t>
            </a:r>
          </a:p>
        </p:txBody>
      </p:sp>
      <p:sp>
        <p:nvSpPr>
          <p:cNvPr id="36" name="TextBox 35"/>
          <p:cNvSpPr txBox="1"/>
          <p:nvPr/>
        </p:nvSpPr>
        <p:spPr>
          <a:xfrm>
            <a:off x="719137" y="3924300"/>
            <a:ext cx="1362075" cy="190500"/>
          </a:xfrm>
          <a:prstGeom prst="rect">
            <a:avLst/>
          </a:prstGeom>
          <a:noFill/>
        </p:spPr>
        <p:txBody>
          <a:bodyPr wrap="square" lIns="0" rIns="0" tIns="0" bIns="0" anchor="t">
            <a:spAutoFit/>
          </a:bodyPr>
          <a:lstStyle/>
          <a:p>
            <a:pPr algn="ctr"/>
            <a:r>
              <a:rPr b="1" sz="1200" i="0" u="none">
                <a:solidFill>
                  <a:srgbClr val="FFFFFF"/>
                </a:solidFill>
                <a:latin typeface="Inter"/>
              </a:rPr>
              <a:t>PO 5</a:t>
            </a:r>
          </a:p>
        </p:txBody>
      </p:sp>
      <p:sp>
        <p:nvSpPr>
          <p:cNvPr id="37" name="TextBox 36"/>
          <p:cNvSpPr txBox="1"/>
          <p:nvPr/>
        </p:nvSpPr>
        <p:spPr>
          <a:xfrm>
            <a:off x="2219325" y="3924300"/>
            <a:ext cx="8893968" cy="190500"/>
          </a:xfrm>
          <a:prstGeom prst="rect">
            <a:avLst/>
          </a:prstGeom>
          <a:noFill/>
        </p:spPr>
        <p:txBody>
          <a:bodyPr wrap="none" lIns="0" rIns="0" tIns="0" bIns="0" anchor="t">
            <a:spAutoFit/>
          </a:bodyPr>
          <a:lstStyle/>
          <a:p>
            <a:pPr algn="l"/>
            <a:r>
              <a:rPr b="1" sz="1125" i="0" u="none">
                <a:solidFill>
                  <a:srgbClr val="800000"/>
                </a:solidFill>
                <a:latin typeface="Inter"/>
              </a:rPr>
              <a:t>Modern Tool Usage:</a:t>
            </a:r>
            <a:r>
              <a:rPr b="1" sz="1125" i="0" u="none">
                <a:solidFill>
                  <a:srgbClr val="800000"/>
                </a:solidFill>
                <a:latin typeface="Inter"/>
              </a:rPr>
              <a:t> </a:t>
            </a:r>
            <a:r>
              <a:rPr b="1" sz="1050" i="0" u="none">
                <a:solidFill>
                  <a:srgbClr val="475569"/>
                </a:solidFill>
                <a:latin typeface="Inter"/>
              </a:rPr>
              <a:t> Integrates IoT telemetry platforms (ThingSpeak/Blynk) and Arduino IDE development tools.</a:t>
            </a:r>
          </a:p>
        </p:txBody>
      </p:sp>
      <p:sp>
        <p:nvSpPr>
          <p:cNvPr id="38" name="TextBox 37"/>
          <p:cNvSpPr txBox="1"/>
          <p:nvPr/>
        </p:nvSpPr>
        <p:spPr>
          <a:xfrm>
            <a:off x="719137" y="4857750"/>
            <a:ext cx="1362075" cy="190500"/>
          </a:xfrm>
          <a:prstGeom prst="rect">
            <a:avLst/>
          </a:prstGeom>
          <a:noFill/>
        </p:spPr>
        <p:txBody>
          <a:bodyPr wrap="square" lIns="0" rIns="0" tIns="0" bIns="0" anchor="t">
            <a:spAutoFit/>
          </a:bodyPr>
          <a:lstStyle/>
          <a:p>
            <a:pPr algn="ctr"/>
            <a:r>
              <a:rPr b="1" sz="1200" i="0" u="none">
                <a:solidFill>
                  <a:srgbClr val="FFFFFF"/>
                </a:solidFill>
                <a:latin typeface="Inter"/>
              </a:rPr>
              <a:t>PSO 1 &amp; PSO 2</a:t>
            </a:r>
          </a:p>
        </p:txBody>
      </p:sp>
      <p:sp>
        <p:nvSpPr>
          <p:cNvPr id="39" name="TextBox 38"/>
          <p:cNvSpPr txBox="1"/>
          <p:nvPr/>
        </p:nvSpPr>
        <p:spPr>
          <a:xfrm>
            <a:off x="2219325" y="4857750"/>
            <a:ext cx="9972675" cy="190500"/>
          </a:xfrm>
          <a:prstGeom prst="rect">
            <a:avLst/>
          </a:prstGeom>
          <a:noFill/>
        </p:spPr>
        <p:txBody>
          <a:bodyPr wrap="none" lIns="0" rIns="0" tIns="0" bIns="0" anchor="t">
            <a:spAutoFit/>
          </a:bodyPr>
          <a:lstStyle/>
          <a:p>
            <a:pPr algn="l"/>
            <a:r>
              <a:rPr b="1" sz="1125" i="0" u="none">
                <a:solidFill>
                  <a:srgbClr val="800000"/>
                </a:solidFill>
                <a:latin typeface="Inter"/>
              </a:rPr>
              <a:t>ECE Specific Outcomes:</a:t>
            </a:r>
            <a:r>
              <a:rPr b="1" sz="1125" i="0" u="none">
                <a:solidFill>
                  <a:srgbClr val="800000"/>
                </a:solidFill>
                <a:latin typeface="Inter"/>
              </a:rPr>
              <a:t> </a:t>
            </a:r>
            <a:r>
              <a:rPr b="1" sz="1050" i="0" u="none">
                <a:solidFill>
                  <a:srgbClr val="475569"/>
                </a:solidFill>
                <a:latin typeface="Inter"/>
              </a:rPr>
              <a:t> Demonstrates proficiency in sensor interface, wireless connectivity hardware, and real-time embedded communication.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0960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6050"/>
            <a:ext cx="12192000" cy="361950"/>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09750" y="1888033"/>
            <a:ext cx="8572500" cy="2291357"/>
          </a:xfrm>
          <a:prstGeom prst="roundRect">
            <a:avLst>
              <a:gd name="adj" fmla="val 332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09750" y="4407991"/>
            <a:ext cx="8572500" cy="809625"/>
          </a:xfrm>
          <a:prstGeom prst="roundRect">
            <a:avLst>
              <a:gd name="adj" fmla="val 11764"/>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09750" y="4169866"/>
            <a:ext cx="857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9750" y="1888033"/>
            <a:ext cx="857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09750" y="1888033"/>
            <a:ext cx="76200" cy="2291357"/>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372725" y="1888033"/>
            <a:ext cx="9525" cy="2291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5957887" y="2164258"/>
            <a:ext cx="342900" cy="457200"/>
          </a:xfrm>
          <a:prstGeom prst="rect">
            <a:avLst/>
          </a:prstGeom>
        </p:spPr>
      </p:pic>
      <p:sp>
        <p:nvSpPr>
          <p:cNvPr id="11" name="TextBox 10"/>
          <p:cNvSpPr txBox="1"/>
          <p:nvPr/>
        </p:nvSpPr>
        <p:spPr>
          <a:xfrm>
            <a:off x="381000" y="147637"/>
            <a:ext cx="2428875" cy="314325"/>
          </a:xfrm>
          <a:prstGeom prst="rect">
            <a:avLst/>
          </a:prstGeom>
          <a:noFill/>
        </p:spPr>
        <p:txBody>
          <a:bodyPr wrap="square" lIns="0" rIns="0" tIns="0" bIns="0" anchor="t">
            <a:spAutoFit/>
          </a:bodyPr>
          <a:lstStyle/>
          <a:p>
            <a:pPr algn="l"/>
            <a:r>
              <a:rPr b="1" sz="1650" i="0" u="none">
                <a:solidFill>
                  <a:srgbClr val="FFFFFF"/>
                </a:solidFill>
                <a:latin typeface="Poppins"/>
              </a:rPr>
              <a:t>PROPOSED OUTCOME</a:t>
            </a:r>
          </a:p>
        </p:txBody>
      </p:sp>
      <p:sp>
        <p:nvSpPr>
          <p:cNvPr id="12" name="TextBox 11"/>
          <p:cNvSpPr txBox="1"/>
          <p:nvPr/>
        </p:nvSpPr>
        <p:spPr>
          <a:xfrm>
            <a:off x="9391650" y="228600"/>
            <a:ext cx="2800350" cy="152400"/>
          </a:xfrm>
          <a:prstGeom prst="rect">
            <a:avLst/>
          </a:prstGeom>
          <a:noFill/>
        </p:spPr>
        <p:txBody>
          <a:bodyPr wrap="none" lIns="0" rIns="0" tIns="0" bIns="0" anchor="t">
            <a:spAutoFit/>
          </a:bodyPr>
          <a:lstStyle/>
          <a:p>
            <a:pPr algn="l"/>
            <a:r>
              <a:rPr b="1" sz="975" i="0" u="none">
                <a:solidFill>
                  <a:srgbClr val="FFFFFF"/>
                </a:solidFill>
                <a:latin typeface="Inter"/>
              </a:rPr>
              <a:t>PRATHYUSHA ENGINEERING COLLEGE</a:t>
            </a:r>
          </a:p>
        </p:txBody>
      </p:sp>
      <p:sp>
        <p:nvSpPr>
          <p:cNvPr id="13" name="TextBox 12"/>
          <p:cNvSpPr txBox="1"/>
          <p:nvPr/>
        </p:nvSpPr>
        <p:spPr>
          <a:xfrm>
            <a:off x="381000" y="6605587"/>
            <a:ext cx="4905375" cy="142875"/>
          </a:xfrm>
          <a:prstGeom prst="rect">
            <a:avLst/>
          </a:prstGeom>
          <a:noFill/>
        </p:spPr>
        <p:txBody>
          <a:bodyPr wrap="none" lIns="0" rIns="0" tIns="0" bIns="0" anchor="t">
            <a:spAutoFit/>
          </a:bodyPr>
          <a:lstStyle/>
          <a:p>
            <a:pPr algn="l"/>
            <a:r>
              <a:rPr b="0" sz="900" i="0" u="none">
                <a:solidFill>
                  <a:srgbClr val="FFFFFF"/>
                </a:solidFill>
                <a:latin typeface="Inter"/>
              </a:rPr>
              <a:t>DEPARTMENT OF ELECTRONICS AND COMMUNICATION ENGINEERING</a:t>
            </a:r>
          </a:p>
        </p:txBody>
      </p:sp>
      <p:sp>
        <p:nvSpPr>
          <p:cNvPr id="14" name="TextBox 13"/>
          <p:cNvSpPr txBox="1"/>
          <p:nvPr/>
        </p:nvSpPr>
        <p:spPr>
          <a:xfrm>
            <a:off x="11344275" y="6605587"/>
            <a:ext cx="752475" cy="142875"/>
          </a:xfrm>
          <a:prstGeom prst="rect">
            <a:avLst/>
          </a:prstGeom>
          <a:noFill/>
        </p:spPr>
        <p:txBody>
          <a:bodyPr wrap="none" lIns="0" rIns="0" tIns="0" bIns="0" anchor="t">
            <a:spAutoFit/>
          </a:bodyPr>
          <a:lstStyle/>
          <a:p>
            <a:pPr algn="l"/>
            <a:r>
              <a:rPr b="0" sz="900" i="0" u="none">
                <a:solidFill>
                  <a:srgbClr val="FFFFFF"/>
                </a:solidFill>
                <a:latin typeface="Inter"/>
              </a:rPr>
              <a:t>SLIDE 17</a:t>
            </a:r>
          </a:p>
        </p:txBody>
      </p:sp>
      <p:sp>
        <p:nvSpPr>
          <p:cNvPr id="15" name="TextBox 14"/>
          <p:cNvSpPr txBox="1"/>
          <p:nvPr/>
        </p:nvSpPr>
        <p:spPr>
          <a:xfrm>
            <a:off x="909935" y="2735758"/>
            <a:ext cx="10438804" cy="276225"/>
          </a:xfrm>
          <a:prstGeom prst="rect">
            <a:avLst/>
          </a:prstGeom>
          <a:noFill/>
        </p:spPr>
        <p:txBody>
          <a:bodyPr wrap="none" lIns="0" rIns="0" tIns="0" bIns="0" anchor="t">
            <a:spAutoFit/>
          </a:bodyPr>
          <a:lstStyle/>
          <a:p>
            <a:pPr algn="ctr"/>
            <a:r>
              <a:rPr b="1" sz="1800" i="0" u="none">
                <a:solidFill>
                  <a:srgbClr val="800000"/>
                </a:solidFill>
                <a:latin typeface="Inter"/>
              </a:rPr>
              <a:t>Target Deliverable &amp; Impact</a:t>
            </a:r>
          </a:p>
        </p:txBody>
      </p:sp>
      <p:sp>
        <p:nvSpPr>
          <p:cNvPr id="16" name="TextBox 15"/>
          <p:cNvSpPr txBox="1"/>
          <p:nvPr/>
        </p:nvSpPr>
        <p:spPr>
          <a:xfrm>
            <a:off x="1158478" y="3126283"/>
            <a:ext cx="9941718" cy="776882"/>
          </a:xfrm>
          <a:prstGeom prst="rect">
            <a:avLst/>
          </a:prstGeom>
          <a:noFill/>
        </p:spPr>
        <p:txBody>
          <a:bodyPr wrap="square" lIns="0" rIns="0" tIns="0" bIns="0" anchor="t">
            <a:spAutoFit/>
          </a:bodyPr>
          <a:lstStyle/>
          <a:p>
            <a:pPr algn="ctr">
              <a:lnSpc>
                <a:spcPts val="2039"/>
              </a:lnSpc>
            </a:pPr>
            <a:r>
              <a:rPr b="0" sz="1275" i="0" u="none">
                <a:solidFill>
                  <a:srgbClr val="334155"/>
                </a:solidFill>
                <a:latin typeface="Inter"/>
              </a:rPr>
              <a:t>A fully functional, low-power hardware prototype capable of continuous multi-parameter water monitoring with direct wireless upload to an interactive cloud portal, providing real-time purity alerts to safeguard public health and water infrastructure.</a:t>
            </a:r>
          </a:p>
        </p:txBody>
      </p:sp>
      <p:sp>
        <p:nvSpPr>
          <p:cNvPr id="17" name="TextBox 16"/>
          <p:cNvSpPr txBox="1"/>
          <p:nvPr/>
        </p:nvSpPr>
        <p:spPr>
          <a:xfrm>
            <a:off x="720328" y="4598491"/>
            <a:ext cx="10751343" cy="228600"/>
          </a:xfrm>
          <a:prstGeom prst="rect">
            <a:avLst/>
          </a:prstGeom>
          <a:noFill/>
        </p:spPr>
        <p:txBody>
          <a:bodyPr wrap="none" lIns="0" rIns="0" tIns="0" bIns="0" anchor="t">
            <a:spAutoFit/>
          </a:bodyPr>
          <a:lstStyle/>
          <a:p>
            <a:pPr algn="ctr"/>
            <a:r>
              <a:rPr b="1" sz="1500" i="0" u="none">
                <a:solidFill>
                  <a:srgbClr val="FFFFFF"/>
                </a:solidFill>
                <a:latin typeface="Inter"/>
              </a:rPr>
              <a:t>THANK YOU</a:t>
            </a:r>
          </a:p>
        </p:txBody>
      </p:sp>
      <p:sp>
        <p:nvSpPr>
          <p:cNvPr id="18" name="TextBox 17"/>
          <p:cNvSpPr txBox="1"/>
          <p:nvPr/>
        </p:nvSpPr>
        <p:spPr>
          <a:xfrm>
            <a:off x="976312" y="4865191"/>
            <a:ext cx="10239375" cy="161925"/>
          </a:xfrm>
          <a:prstGeom prst="rect">
            <a:avLst/>
          </a:prstGeom>
          <a:noFill/>
        </p:spPr>
        <p:txBody>
          <a:bodyPr wrap="none" lIns="0" rIns="0" tIns="0" bIns="0" anchor="t">
            <a:spAutoFit/>
          </a:bodyPr>
          <a:lstStyle/>
          <a:p>
            <a:pPr algn="ctr"/>
            <a:r>
              <a:rPr b="0" sz="1050" i="0" u="none">
                <a:solidFill>
                  <a:srgbClr val="FFFFFF"/>
                </a:solidFill>
                <a:latin typeface="Inter"/>
              </a:rPr>
              <a:t>Questions &amp; Discussion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71500" y="847725"/>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1609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1609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571500" y="990600"/>
            <a:ext cx="857250" cy="476250"/>
          </a:xfrm>
          <a:prstGeom prst="rect">
            <a:avLst/>
          </a:prstGeom>
        </p:spPr>
      </p:pic>
      <p:pic>
        <p:nvPicPr>
          <p:cNvPr id="6" name="Picture 5" descr="image.png"/>
          <p:cNvPicPr>
            <a:picLocks noChangeAspect="1"/>
          </p:cNvPicPr>
          <p:nvPr/>
        </p:nvPicPr>
        <p:blipFill>
          <a:blip r:embed="rId3"/>
          <a:stretch>
            <a:fillRect/>
          </a:stretch>
        </p:blipFill>
        <p:spPr>
          <a:xfrm>
            <a:off x="571500" y="1762125"/>
            <a:ext cx="857250" cy="476250"/>
          </a:xfrm>
          <a:prstGeom prst="rect">
            <a:avLst/>
          </a:prstGeom>
        </p:spPr>
      </p:pic>
      <p:sp>
        <p:nvSpPr>
          <p:cNvPr id="7" name="TextBox 6"/>
          <p:cNvSpPr txBox="1"/>
          <p:nvPr/>
        </p:nvSpPr>
        <p:spPr>
          <a:xfrm>
            <a:off x="571500" y="571500"/>
            <a:ext cx="2175271" cy="276225"/>
          </a:xfrm>
          <a:prstGeom prst="rect">
            <a:avLst/>
          </a:prstGeom>
          <a:noFill/>
        </p:spPr>
        <p:txBody>
          <a:bodyPr wrap="none" lIns="0" rIns="0" tIns="0" bIns="0" anchor="t">
            <a:spAutoFit/>
          </a:bodyPr>
          <a:lstStyle/>
          <a:p>
            <a:pPr algn="l"/>
            <a:r>
              <a:rPr b="1" sz="1800" i="0" u="none">
                <a:solidFill>
                  <a:srgbClr val="1E293B"/>
                </a:solidFill>
                <a:latin typeface="Inter"/>
              </a:rPr>
              <a:t>Image Sources</a:t>
            </a:r>
          </a:p>
        </p:txBody>
      </p:sp>
      <p:sp>
        <p:nvSpPr>
          <p:cNvPr id="8" name="TextBox 7"/>
          <p:cNvSpPr txBox="1"/>
          <p:nvPr/>
        </p:nvSpPr>
        <p:spPr>
          <a:xfrm>
            <a:off x="1666875" y="1033462"/>
            <a:ext cx="8417718" cy="152400"/>
          </a:xfrm>
          <a:prstGeom prst="rect">
            <a:avLst/>
          </a:prstGeom>
          <a:noFill/>
        </p:spPr>
        <p:txBody>
          <a:bodyPr wrap="none" lIns="0" rIns="0" tIns="0" bIns="0" anchor="t">
            <a:spAutoFit/>
          </a:bodyPr>
          <a:lstStyle/>
          <a:p>
            <a:pPr algn="l"/>
            <a:r>
              <a:rPr b="0" sz="975" i="0" u="none">
                <a:solidFill>
                  <a:srgbClr val="1E293B"/>
                </a:solidFill>
                <a:latin typeface="Inter"/>
              </a:rPr>
              <a:t>https://pantechsolutions.net/wp-content/uploads/2021/09/water_quality_monitoring_using_nodmcu_esp8266_1.jpg</a:t>
            </a:r>
          </a:p>
        </p:txBody>
      </p:sp>
      <p:sp>
        <p:nvSpPr>
          <p:cNvPr id="9" name="TextBox 8"/>
          <p:cNvSpPr txBox="1"/>
          <p:nvPr/>
        </p:nvSpPr>
        <p:spPr>
          <a:xfrm>
            <a:off x="1666875" y="1233487"/>
            <a:ext cx="2595562" cy="190500"/>
          </a:xfrm>
          <a:prstGeom prst="rect">
            <a:avLst/>
          </a:prstGeom>
          <a:noFill/>
        </p:spPr>
        <p:txBody>
          <a:bodyPr wrap="none" lIns="0" rIns="0" tIns="0" bIns="0" anchor="t">
            <a:spAutoFit/>
          </a:bodyPr>
          <a:lstStyle/>
          <a:p>
            <a:pPr algn="l"/>
            <a:r>
              <a:rPr b="0" sz="1200" i="0" u="none">
                <a:solidFill>
                  <a:srgbClr val="1E293B"/>
                </a:solidFill>
                <a:latin typeface="Inter"/>
              </a:rPr>
              <a:t>Source: </a:t>
            </a:r>
            <a:r>
              <a:rPr b="0" sz="1200" i="0" u="none">
                <a:solidFill>
                  <a:srgbClr val="4F46E5"/>
                </a:solidFill>
                <a:latin typeface="Inter"/>
              </a:rPr>
              <a:t>pantechsolutions.net</a:t>
            </a:r>
          </a:p>
        </p:txBody>
      </p:sp>
      <p:sp>
        <p:nvSpPr>
          <p:cNvPr id="10" name="TextBox 9"/>
          <p:cNvSpPr txBox="1"/>
          <p:nvPr/>
        </p:nvSpPr>
        <p:spPr>
          <a:xfrm>
            <a:off x="1666875" y="1804987"/>
            <a:ext cx="10429875" cy="152400"/>
          </a:xfrm>
          <a:prstGeom prst="rect">
            <a:avLst/>
          </a:prstGeom>
          <a:noFill/>
        </p:spPr>
        <p:txBody>
          <a:bodyPr wrap="none" lIns="0" rIns="0" tIns="0" bIns="0" anchor="t">
            <a:spAutoFit/>
          </a:bodyPr>
          <a:lstStyle/>
          <a:p>
            <a:pPr algn="l"/>
            <a:r>
              <a:rPr b="0" sz="975" i="0" u="none">
                <a:solidFill>
                  <a:srgbClr val="1E293B"/>
                </a:solidFill>
                <a:latin typeface="Inter"/>
              </a:rPr>
              <a:t>https://ourcodeworld.com/public-media/articles/iot-environmental-data-insights-for-smart-water-monitoring-developers-6a72322730476.jpg</a:t>
            </a:r>
          </a:p>
        </p:txBody>
      </p:sp>
      <p:sp>
        <p:nvSpPr>
          <p:cNvPr id="11" name="TextBox 10"/>
          <p:cNvSpPr txBox="1"/>
          <p:nvPr/>
        </p:nvSpPr>
        <p:spPr>
          <a:xfrm>
            <a:off x="1666875" y="2005012"/>
            <a:ext cx="2464593" cy="190500"/>
          </a:xfrm>
          <a:prstGeom prst="rect">
            <a:avLst/>
          </a:prstGeom>
          <a:noFill/>
        </p:spPr>
        <p:txBody>
          <a:bodyPr wrap="none" lIns="0" rIns="0" tIns="0" bIns="0" anchor="t">
            <a:spAutoFit/>
          </a:bodyPr>
          <a:lstStyle/>
          <a:p>
            <a:pPr algn="l"/>
            <a:r>
              <a:rPr b="0" sz="1200" i="0" u="none">
                <a:solidFill>
                  <a:srgbClr val="1E293B"/>
                </a:solidFill>
                <a:latin typeface="Inter"/>
              </a:rPr>
              <a:t>Source: </a:t>
            </a:r>
            <a:r>
              <a:rPr b="0" sz="1200" i="0" u="none">
                <a:solidFill>
                  <a:srgbClr val="4F46E5"/>
                </a:solidFill>
                <a:latin typeface="Inter"/>
              </a:rPr>
              <a:t>ourcodeworld.com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